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embeddedFontLst>
    <p:embeddedFont>
      <p:font typeface="Liter" panose="02000503030000020004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12800" y="685800"/>
            <a:ext cx="1524000" cy="381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812800" y="914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SIH26155  ·  TEAM ZEROTRACE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625600"/>
            <a:ext cx="7747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4700" b="1" noProof="1">
                <a:solidFill>
                  <a:srgbClr val="EAF1F7"/>
                </a:solidFill>
                <a:latin typeface="Liter"/>
                <a:ea typeface="Liter"/>
              </a:rPr>
              <a:t>Universal Log</a:t>
            </a:r>
            <a:endParaRPr lang="en-US" sz="4700" noProof="1"/>
          </a:p>
          <a:p>
            <a:pPr>
              <a:lnSpc>
                <a:spcPct val="105000"/>
              </a:lnSpc>
            </a:pPr>
            <a:r>
              <a:rPr lang="en-US" sz="4700" b="1" noProof="1">
                <a:solidFill>
                  <a:srgbClr val="EAF1F7"/>
                </a:solidFill>
                <a:latin typeface="Liter"/>
                <a:ea typeface="Liter"/>
              </a:rPr>
              <a:t>Pre-processing</a:t>
            </a:r>
            <a:endParaRPr lang="en-US" sz="4700" noProof="1"/>
          </a:p>
          <a:p>
            <a:pPr>
              <a:lnSpc>
                <a:spcPct val="105000"/>
              </a:lnSpc>
            </a:pPr>
            <a:r>
              <a:rPr lang="en-US" sz="4700" b="1" noProof="1">
                <a:solidFill>
                  <a:srgbClr val="EAF1F7"/>
                </a:solidFill>
                <a:latin typeface="Liter"/>
                <a:ea typeface="Liter"/>
              </a:rPr>
              <a:t>Framework </a:t>
            </a:r>
            <a:r>
              <a:rPr lang="en-US" sz="4700" b="1" noProof="1">
                <a:solidFill>
                  <a:srgbClr val="F2A93B"/>
                </a:solidFill>
                <a:latin typeface="Liter"/>
                <a:ea typeface="Liter"/>
              </a:rPr>
              <a:t>(ULPF)</a:t>
            </a:r>
            <a:endParaRPr lang="en-US" sz="4700" noProof="1"/>
          </a:p>
        </p:txBody>
      </p:sp>
      <p:sp>
        <p:nvSpPr>
          <p:cNvPr id="5" name="subtitle"/>
          <p:cNvSpPr txBox="1"/>
          <p:nvPr/>
        </p:nvSpPr>
        <p:spPr>
          <a:xfrm>
            <a:off x="838200" y="3708400"/>
            <a:ext cx="7112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800" noProof="1">
                <a:solidFill>
                  <a:srgbClr val="9DAAB8"/>
                </a:solidFill>
                <a:latin typeface="Liter"/>
                <a:ea typeface="Liter"/>
              </a:rPr>
              <a:t>AI-assisted, vendor-agnostic log pipeline</a:t>
            </a:r>
            <a:endParaRPr lang="en-US" sz="1800" noProof="1"/>
          </a:p>
          <a:p>
            <a:pPr>
              <a:lnSpc>
                <a:spcPct val="135000"/>
              </a:lnSpc>
            </a:pPr>
            <a:r>
              <a:rPr lang="en-US" sz="1800" noProof="1">
                <a:solidFill>
                  <a:srgbClr val="9DAAB8"/>
                </a:solidFill>
                <a:latin typeface="Liter"/>
                <a:ea typeface="Liter"/>
              </a:rPr>
              <a:t>for enterprise security operations.</a:t>
            </a:r>
            <a:endParaRPr lang="en-US" sz="1800" noProof="1"/>
          </a:p>
        </p:txBody>
      </p:sp>
      <p:sp>
        <p:nvSpPr>
          <p:cNvPr id="6" name="meta"/>
          <p:cNvSpPr txBox="1"/>
          <p:nvPr/>
        </p:nvSpPr>
        <p:spPr>
          <a:xfrm>
            <a:off x="838200" y="4902200"/>
            <a:ext cx="6350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F2A93B"/>
                </a:solidFill>
                <a:latin typeface="Liter"/>
                <a:ea typeface="Liter"/>
              </a:rPr>
              <a:t>Problem statement</a:t>
            </a: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  SIH26155</a:t>
            </a:r>
            <a:endParaRPr lang="en-US" sz="1250" noProof="1"/>
          </a:p>
        </p:txBody>
      </p:sp>
      <p:sp>
        <p:nvSpPr>
          <p:cNvPr id="7" name="shield-halo"/>
          <p:cNvSpPr/>
          <p:nvPr/>
        </p:nvSpPr>
        <p:spPr>
          <a:xfrm>
            <a:off x="9194800" y="1498600"/>
            <a:ext cx="2159000" cy="2159000"/>
          </a:xfrm>
          <a:prstGeom prst="donut">
            <a:avLst>
              <a:gd name="adj" fmla="val 9000"/>
            </a:avLst>
          </a:prstGeom>
          <a:solidFill>
            <a:srgbClr val="F2A93B">
              <a:alpha val="13333"/>
            </a:srgbClr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hield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9728200" y="1981200"/>
            <a:ext cx="1092200" cy="1092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ata-line-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eyJ2aWV3Qm94IjpbMTk2LDJdLCJwb2ludHMiOiIwLDEgMTk2LDEifQ</pptd:line>
              </p:ext>
            </p:extLst>
          </p:nvPr>
        </p:nvSpPr>
        <p:spPr>
          <a:xfrm>
            <a:off x="8890000" y="4191000"/>
            <a:ext cx="2489200" cy="25400"/>
          </a:xfrm>
          <a:custGeom>
            <a:avLst/>
            <a:gdLst/>
            <a:ahLst/>
            <a:cxnLst/>
            <a:rect l="l" t="t" r="r" b="b"/>
            <a:pathLst>
              <a:path w="196" h="2">
                <a:moveTo>
                  <a:pt x="0" y="1"/>
                </a:moveTo>
                <a:lnTo>
                  <a:pt x="196" y="1"/>
                </a:lnTo>
              </a:path>
            </a:pathLst>
          </a:custGeom>
          <a:noFill/>
          <a:ln w="25400" cap="rnd">
            <a:solidFill>
              <a:srgbClr val="7EA2D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data-line-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eyJ2aWV3Qm94IjpbMTcyLDJdLCJwb2ludHMiOiIwLDEgMTcyLDEifQ</pptd:line>
              </p:ext>
            </p:extLst>
          </p:nvPr>
        </p:nvSpPr>
        <p:spPr>
          <a:xfrm>
            <a:off x="9194800" y="4470400"/>
            <a:ext cx="2184400" cy="25400"/>
          </a:xfrm>
          <a:custGeom>
            <a:avLst/>
            <a:gdLst/>
            <a:ahLst/>
            <a:cxnLst/>
            <a:rect l="l" t="t" r="r" b="b"/>
            <a:pathLst>
              <a:path w="172" h="2">
                <a:moveTo>
                  <a:pt x="0" y="1"/>
                </a:moveTo>
                <a:lnTo>
                  <a:pt x="172" y="1"/>
                </a:lnTo>
              </a:path>
            </a:pathLst>
          </a:custGeom>
          <a:noFill/>
          <a:ln w="25400" cap="rnd">
            <a:solidFill>
              <a:srgbClr val="2A3946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data-line-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eyJ2aWV3Qm94IjpbMTQ4LDJdLCJwb2ludHMiOiIwLDEgMTQ4LDEifQ</pptd:line>
              </p:ext>
            </p:extLst>
          </p:nvPr>
        </p:nvSpPr>
        <p:spPr>
          <a:xfrm>
            <a:off x="9499600" y="4749800"/>
            <a:ext cx="1879600" cy="25400"/>
          </a:xfrm>
          <a:custGeom>
            <a:avLst/>
            <a:gdLst/>
            <a:ahLst/>
            <a:cxnLst/>
            <a:rect l="l" t="t" r="r" b="b"/>
            <a:pathLst>
              <a:path w="148" h="2">
                <a:moveTo>
                  <a:pt x="0" y="1"/>
                </a:moveTo>
                <a:lnTo>
                  <a:pt x="148" y="1"/>
                </a:lnTo>
              </a:path>
            </a:pathLst>
          </a:custGeom>
          <a:noFill/>
          <a:ln w="25400" cap="rnd">
            <a:solidFill>
              <a:srgbClr val="52C39A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ight-caption"/>
          <p:cNvSpPr txBox="1"/>
          <p:nvPr/>
        </p:nvSpPr>
        <p:spPr>
          <a:xfrm>
            <a:off x="8966200" y="51054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INGEST  →  NORMALIZE  →  DETECT</a:t>
            </a:r>
            <a:endParaRPr lang="en-US" sz="1050" noProof="1"/>
          </a:p>
          <a:p>
            <a:pPr algn="ct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Deterministic pipeline, AI-assisted onboarding</a:t>
            </a:r>
            <a:endParaRPr lang="en-US" sz="1050" noProof="1"/>
          </a:p>
        </p:txBody>
      </p:sp>
      <p:sp>
        <p:nvSpPr>
          <p:cNvPr id="13" name="footer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ULPF · Universal Log Pre-processing Framework</a:t>
            </a:r>
            <a:endParaRPr lang="en-US" sz="10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01 · THE PROBLEM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Security data is fragmented; parsing is the bottleneck</a:t>
            </a:r>
            <a:endParaRPr lang="en-US" sz="2800" noProof="1"/>
          </a:p>
        </p:txBody>
      </p:sp>
      <p:sp>
        <p:nvSpPr>
          <p:cNvPr id="4" name="body"/>
          <p:cNvSpPr txBox="1"/>
          <p:nvPr/>
        </p:nvSpPr>
        <p:spPr>
          <a:xfrm>
            <a:off x="812800" y="1676400"/>
            <a:ext cx="4953000" cy="363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Enterprises run dozens of security vendors: firewalls, EDRs, cloud services, identity systems.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Every vendor emits a different shape: Syslog, JSON, XML, CEF, LEEF, CSV, or plain text.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Analysts lose hours writing and maintaining custom Grok / Regex parsers.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Detection waits for normalization, so useful signals arrive late.</a:t>
            </a:r>
            <a:endParaRPr lang="en-US" sz="1550" noProof="1"/>
          </a:p>
        </p:txBody>
      </p:sp>
      <p:sp>
        <p:nvSpPr>
          <p:cNvPr id="5" name="takeaway-label"/>
          <p:cNvSpPr txBox="1"/>
          <p:nvPr/>
        </p:nvSpPr>
        <p:spPr>
          <a:xfrm>
            <a:off x="812800" y="54610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2A93B"/>
                </a:solidFill>
                <a:latin typeface="Liter"/>
                <a:ea typeface="Liter"/>
              </a:rPr>
              <a:t>READER TASK</a:t>
            </a:r>
            <a:endParaRPr lang="en-US" sz="1200" noProof="1"/>
          </a:p>
        </p:txBody>
      </p:sp>
      <p:sp>
        <p:nvSpPr>
          <p:cNvPr id="6" name="takeaway"/>
          <p:cNvSpPr txBox="1"/>
          <p:nvPr/>
        </p:nvSpPr>
        <p:spPr>
          <a:xfrm>
            <a:off x="812800" y="574040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The cost is not only parser effort; it is slower threat decisions across mixed telemetry.</a:t>
            </a:r>
            <a:endParaRPr lang="en-US" sz="1250" noProof="1"/>
          </a:p>
        </p:txBody>
      </p:sp>
      <p:sp>
        <p:nvSpPr>
          <p:cNvPr id="7" name="src1-box"/>
          <p:cNvSpPr/>
          <p:nvPr/>
        </p:nvSpPr>
        <p:spPr>
          <a:xfrm>
            <a:off x="6426200" y="1676400"/>
            <a:ext cx="1905000" cy="685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rc1-text"/>
          <p:cNvSpPr txBox="1"/>
          <p:nvPr/>
        </p:nvSpPr>
        <p:spPr>
          <a:xfrm>
            <a:off x="6578600" y="18034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syslog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&lt;134&gt; fw01 deny ...</a:t>
            </a:r>
            <a:endParaRPr lang="en-US" sz="1150" noProof="1"/>
          </a:p>
        </p:txBody>
      </p:sp>
      <p:sp>
        <p:nvSpPr>
          <p:cNvPr id="9" name="src2-box"/>
          <p:cNvSpPr/>
          <p:nvPr/>
        </p:nvSpPr>
        <p:spPr>
          <a:xfrm>
            <a:off x="6426200" y="2616200"/>
            <a:ext cx="1905000" cy="685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rc2-text"/>
          <p:cNvSpPr txBox="1"/>
          <p:nvPr/>
        </p:nvSpPr>
        <p:spPr>
          <a:xfrm>
            <a:off x="6578600" y="27432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json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{"spt":443,"src":...}</a:t>
            </a:r>
            <a:endParaRPr lang="en-US" sz="1150" noProof="1"/>
          </a:p>
        </p:txBody>
      </p:sp>
      <p:sp>
        <p:nvSpPr>
          <p:cNvPr id="11" name="src3-box"/>
          <p:cNvSpPr/>
          <p:nvPr/>
        </p:nvSpPr>
        <p:spPr>
          <a:xfrm>
            <a:off x="6426200" y="3556000"/>
            <a:ext cx="1905000" cy="685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rc3-text"/>
          <p:cNvSpPr txBox="1"/>
          <p:nvPr/>
        </p:nvSpPr>
        <p:spPr>
          <a:xfrm>
            <a:off x="6578600" y="36830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cef / xml / text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deviceCustom...</a:t>
            </a:r>
            <a:endParaRPr lang="en-US" sz="1150" noProof="1"/>
          </a:p>
        </p:txBody>
      </p:sp>
      <p:sp>
        <p:nvSpPr>
          <p:cNvPr id="13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eyJ2aWV3Qm94IjpbMTIyLDYyXSwicG9pbnRzIjoiMCwwIDEyMiw2MiJ9</pptd:line>
              </p:ext>
            </p:extLst>
          </p:nvPr>
        </p:nvSpPr>
        <p:spPr>
          <a:xfrm>
            <a:off x="8382000" y="2006600"/>
            <a:ext cx="1549400" cy="787400"/>
          </a:xfrm>
          <a:custGeom>
            <a:avLst/>
            <a:gdLst/>
            <a:ahLst/>
            <a:cxnLst/>
            <a:rect l="l" t="t" r="r" b="b"/>
            <a:pathLst>
              <a:path w="122" h="62">
                <a:moveTo>
                  <a:pt x="0" y="0"/>
                </a:moveTo>
                <a:lnTo>
                  <a:pt x="122" y="62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eyJ2aWV3Qm94IjpbMTIyLDJdLCJwb2ludHMiOiIwLDEgMTIyLDEifQ</pptd:line>
              </p:ext>
            </p:extLst>
          </p:nvPr>
        </p:nvSpPr>
        <p:spPr>
          <a:xfrm>
            <a:off x="8382000" y="2946400"/>
            <a:ext cx="1549400" cy="25400"/>
          </a:xfrm>
          <a:custGeom>
            <a:avLst/>
            <a:gdLst/>
            <a:ahLst/>
            <a:cxnLst/>
            <a:rect l="l" t="t" r="r" b="b"/>
            <a:pathLst>
              <a:path w="122" h="2">
                <a:moveTo>
                  <a:pt x="0" y="1"/>
                </a:moveTo>
                <a:lnTo>
                  <a:pt x="122" y="1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eyJ2aWV3Qm94IjpbMTIyLDYyXSwicG9pbnRzIjoiMCw2MiAxMjIsMCJ9</pptd:line>
              </p:ext>
            </p:extLst>
          </p:nvPr>
        </p:nvSpPr>
        <p:spPr>
          <a:xfrm>
            <a:off x="8382000" y="3886200"/>
            <a:ext cx="1549400" cy="787400"/>
          </a:xfrm>
          <a:custGeom>
            <a:avLst/>
            <a:gdLst/>
            <a:ahLst/>
            <a:cxnLst/>
            <a:rect l="l" t="t" r="r" b="b"/>
            <a:pathLst>
              <a:path w="122" h="62">
                <a:moveTo>
                  <a:pt x="0" y="62"/>
                </a:moveTo>
                <a:lnTo>
                  <a:pt x="122" y="0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ttleneck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eyJpY29uTmFtZSI6ImZhczpmaWx0ZXIifQ</pptd:icon>
              </p:ext>
            </p:extLst>
          </p:nvPr>
        </p:nvSpPr>
        <p:spPr>
          <a:xfrm>
            <a:off x="10160000" y="2616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9" y="64"/>
                  <a:pt x="7" y="72"/>
                  <a:pt x="2" y="84"/>
                </a:cubicBezTo>
                <a:cubicBezTo>
                  <a:pt x="-3" y="96"/>
                  <a:pt x="0" y="110"/>
                  <a:pt x="9" y="119"/>
                </a:cubicBezTo>
                <a:lnTo>
                  <a:pt x="192" y="301"/>
                </a:lnTo>
                <a:lnTo>
                  <a:pt x="192" y="416"/>
                </a:lnTo>
                <a:cubicBezTo>
                  <a:pt x="192" y="425"/>
                  <a:pt x="195" y="433"/>
                  <a:pt x="201" y="439"/>
                </a:cubicBezTo>
                <a:lnTo>
                  <a:pt x="265" y="503"/>
                </a:lnTo>
                <a:cubicBezTo>
                  <a:pt x="275" y="512"/>
                  <a:pt x="288" y="515"/>
                  <a:pt x="300" y="510"/>
                </a:cubicBezTo>
                <a:cubicBezTo>
                  <a:pt x="312" y="505"/>
                  <a:pt x="320" y="493"/>
                  <a:pt x="320" y="480"/>
                </a:cubicBezTo>
                <a:lnTo>
                  <a:pt x="320" y="301"/>
                </a:lnTo>
                <a:lnTo>
                  <a:pt x="503" y="119"/>
                </a:lnTo>
                <a:cubicBezTo>
                  <a:pt x="512" y="110"/>
                  <a:pt x="515" y="96"/>
                  <a:pt x="510" y="84"/>
                </a:cubicBezTo>
                <a:cubicBezTo>
                  <a:pt x="505" y="72"/>
                  <a:pt x="493" y="64"/>
                  <a:pt x="480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bottleneck-label"/>
          <p:cNvSpPr txBox="1"/>
          <p:nvPr/>
        </p:nvSpPr>
        <p:spPr>
          <a:xfrm>
            <a:off x="9804400" y="3403600"/>
            <a:ext cx="142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F2A93B"/>
                </a:solidFill>
                <a:latin typeface="Liter"/>
                <a:ea typeface="Liter"/>
              </a:rPr>
              <a:t>manual parser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writing bottleneck</a:t>
            </a:r>
            <a:endParaRPr lang="en-US" sz="1250" noProof="1"/>
          </a:p>
        </p:txBody>
      </p:sp>
      <p:sp>
        <p:nvSpPr>
          <p:cNvPr id="18" name="warn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10312400" y="426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E15B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warn-text"/>
          <p:cNvSpPr txBox="1"/>
          <p:nvPr/>
        </p:nvSpPr>
        <p:spPr>
          <a:xfrm>
            <a:off x="9423400" y="4775200"/>
            <a:ext cx="2184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Delayed normalization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means delayed detection.</a:t>
            </a:r>
            <a:endParaRPr lang="en-US" sz="1250" noProof="1"/>
          </a:p>
        </p:txBody>
      </p:sp>
      <p:sp>
        <p:nvSpPr>
          <p:cNvPr id="20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02</a:t>
            </a:r>
            <a:endParaRPr lang="en-US" sz="10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02 · THE SOLUTION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058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ULPF turns vendor logs into one security event stream</a:t>
            </a:r>
            <a:endParaRPr lang="en-US" sz="2800" noProof="1"/>
          </a:p>
        </p:txBody>
      </p:sp>
      <p:sp>
        <p:nvSpPr>
          <p:cNvPr id="4" name="body"/>
          <p:cNvSpPr txBox="1"/>
          <p:nvPr/>
        </p:nvSpPr>
        <p:spPr>
          <a:xfrm>
            <a:off x="812800" y="1676400"/>
            <a:ext cx="4521200" cy="302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b="1" noProof="1">
                <a:solidFill>
                  <a:srgbClr val="EAF1F7"/>
                </a:solidFill>
                <a:latin typeface="Liter"/>
                <a:ea typeface="Liter"/>
              </a:rPr>
              <a:t>Vendor-agnostic ingestion</a:t>
            </a: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 accepts common and custom log formats.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b="1" noProof="1">
                <a:solidFill>
                  <a:srgbClr val="EAF1F7"/>
                </a:solidFill>
                <a:latin typeface="Liter"/>
                <a:ea typeface="Liter"/>
              </a:rPr>
              <a:t>AI-assisted onboarding</a:t>
            </a: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 replaces blank-page parser authoring.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b="1" noProof="1">
                <a:solidFill>
                  <a:srgbClr val="EAF1F7"/>
                </a:solidFill>
                <a:latin typeface="Liter"/>
                <a:ea typeface="Liter"/>
              </a:rPr>
              <a:t>Universal Event Schema</a:t>
            </a: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 gives every source the same target fields.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b="1" noProof="1">
                <a:solidFill>
                  <a:srgbClr val="EAF1F7"/>
                </a:solidFill>
                <a:latin typeface="Liter"/>
                <a:ea typeface="Liter"/>
              </a:rPr>
              <a:t>On-premise deployment</a:t>
            </a: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 supports restricted and air-gapped environments.</a:t>
            </a:r>
            <a:endParaRPr lang="en-US" sz="1550" noProof="1"/>
          </a:p>
        </p:txBody>
      </p:sp>
      <p:sp>
        <p:nvSpPr>
          <p:cNvPr id="5" name="principle-rule"/>
          <p:cNvSpPr/>
          <p:nvPr/>
        </p:nvSpPr>
        <p:spPr>
          <a:xfrm>
            <a:off x="812800" y="5029200"/>
            <a:ext cx="812800" cy="381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rinciple"/>
          <p:cNvSpPr txBox="1"/>
          <p:nvPr/>
        </p:nvSpPr>
        <p:spPr>
          <a:xfrm>
            <a:off x="812800" y="5257800"/>
            <a:ext cx="4648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F2A93B"/>
                </a:solidFill>
                <a:latin typeface="Liter"/>
                <a:ea typeface="Liter"/>
              </a:rPr>
              <a:t>Design rule:</a:t>
            </a: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 use AI where humans start,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use deterministic code where machines execute.</a:t>
            </a:r>
            <a:endParaRPr lang="en-US" sz="1250" noProof="1"/>
          </a:p>
        </p:txBody>
      </p:sp>
      <p:sp>
        <p:nvSpPr>
          <p:cNvPr id="7" name="input-node"/>
          <p:cNvSpPr/>
          <p:nvPr/>
        </p:nvSpPr>
        <p:spPr>
          <a:xfrm>
            <a:off x="5969000" y="1955800"/>
            <a:ext cx="1549400" cy="23876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input-title"/>
          <p:cNvSpPr txBox="1"/>
          <p:nvPr/>
        </p:nvSpPr>
        <p:spPr>
          <a:xfrm>
            <a:off x="6172200" y="21336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EAF1F7"/>
                </a:solidFill>
                <a:latin typeface="Liter"/>
                <a:ea typeface="Liter"/>
              </a:rPr>
              <a:t>Raw inputs</a:t>
            </a:r>
            <a:endParaRPr lang="en-US" sz="1250" noProof="1"/>
          </a:p>
        </p:txBody>
      </p:sp>
      <p:sp>
        <p:nvSpPr>
          <p:cNvPr id="9" name="input-list"/>
          <p:cNvSpPr txBox="1"/>
          <p:nvPr/>
        </p:nvSpPr>
        <p:spPr>
          <a:xfrm>
            <a:off x="6172200" y="2489200"/>
            <a:ext cx="11938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Syslog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JSON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CEF / LEEF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CSV / XML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Plain text</a:t>
            </a:r>
            <a:endParaRPr lang="en-US" sz="1050" noProof="1"/>
          </a:p>
        </p:txBody>
      </p:sp>
      <p:sp>
        <p:nvSpPr>
          <p:cNvPr id="10" name="arrow-i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eyJ2aWV3Qm94IjpbNTQsNF0sInBvaW50cyI6IjAsMiA1NCwyIn0</pptd:line>
              </p:ext>
            </p:extLst>
          </p:nvPr>
        </p:nvSpPr>
        <p:spPr>
          <a:xfrm>
            <a:off x="7569200" y="30988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54" h="4">
                <a:moveTo>
                  <a:pt x="0" y="2"/>
                </a:moveTo>
                <a:lnTo>
                  <a:pt x="54" y="2"/>
                </a:lnTo>
              </a:path>
            </a:pathLst>
          </a:custGeom>
          <a:noFill/>
          <a:ln w="38100" cap="rnd">
            <a:solidFill>
              <a:srgbClr val="F2A93B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ulpf-node"/>
          <p:cNvSpPr/>
          <p:nvPr/>
        </p:nvSpPr>
        <p:spPr>
          <a:xfrm>
            <a:off x="8305800" y="1676400"/>
            <a:ext cx="1676400" cy="2946400"/>
          </a:xfrm>
          <a:prstGeom prst="rect">
            <a:avLst/>
          </a:prstGeom>
          <a:solidFill>
            <a:srgbClr val="18242F"/>
          </a:solidFill>
          <a:ln w="254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ulpf-title"/>
          <p:cNvSpPr txBox="1"/>
          <p:nvPr/>
        </p:nvSpPr>
        <p:spPr>
          <a:xfrm>
            <a:off x="8509000" y="19050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EAF1F7"/>
                </a:solidFill>
                <a:latin typeface="Liter"/>
                <a:ea typeface="Liter"/>
              </a:rPr>
              <a:t>ULPF</a:t>
            </a:r>
            <a:endParaRPr lang="en-US" sz="1800" noProof="1"/>
          </a:p>
        </p:txBody>
      </p:sp>
      <p:sp>
        <p:nvSpPr>
          <p:cNvPr id="13" name="ulpf-sub"/>
          <p:cNvSpPr txBox="1"/>
          <p:nvPr/>
        </p:nvSpPr>
        <p:spPr>
          <a:xfrm>
            <a:off x="8509000" y="2311400"/>
            <a:ext cx="1270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ingest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parse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map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validate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normalize</a:t>
            </a:r>
            <a:endParaRPr lang="en-US" sz="1050" noProof="1"/>
          </a:p>
        </p:txBody>
      </p:sp>
      <p:sp>
        <p:nvSpPr>
          <p:cNvPr id="14" name="ulpf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8763000" y="3911600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-ou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eyJ2aWV3Qm94IjpbNTQsNF0sInBvaW50cyI6IjAsMiA1NCwyIn0</pptd:line>
              </p:ext>
            </p:extLst>
          </p:nvPr>
        </p:nvSpPr>
        <p:spPr>
          <a:xfrm>
            <a:off x="10033000" y="30988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54" h="4">
                <a:moveTo>
                  <a:pt x="0" y="2"/>
                </a:moveTo>
                <a:lnTo>
                  <a:pt x="54" y="2"/>
                </a:lnTo>
              </a:path>
            </a:pathLst>
          </a:custGeom>
          <a:noFill/>
          <a:ln w="381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output-node"/>
          <p:cNvSpPr/>
          <p:nvPr/>
        </p:nvSpPr>
        <p:spPr>
          <a:xfrm>
            <a:off x="10769600" y="1955800"/>
            <a:ext cx="939800" cy="2387600"/>
          </a:xfrm>
          <a:prstGeom prst="rect">
            <a:avLst/>
          </a:prstGeom>
          <a:solidFill>
            <a:srgbClr val="111B24"/>
          </a:solidFill>
          <a:ln w="12700">
            <a:solidFill>
              <a:srgbClr val="5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output-title"/>
          <p:cNvSpPr txBox="1"/>
          <p:nvPr/>
        </p:nvSpPr>
        <p:spPr>
          <a:xfrm>
            <a:off x="10871200" y="2133600"/>
            <a:ext cx="736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EAF1F7"/>
                </a:solidFill>
                <a:latin typeface="Liter"/>
                <a:ea typeface="Liter"/>
              </a:rPr>
              <a:t>Events</a:t>
            </a:r>
            <a:endParaRPr lang="en-US" sz="1250" noProof="1"/>
          </a:p>
        </p:txBody>
      </p:sp>
      <p:sp>
        <p:nvSpPr>
          <p:cNvPr id="18" name="output-list"/>
          <p:cNvSpPr txBox="1"/>
          <p:nvPr/>
        </p:nvSpPr>
        <p:spPr>
          <a:xfrm>
            <a:off x="10871200" y="2489200"/>
            <a:ext cx="7366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timestamp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actor.ip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target.ip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action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outcome</a:t>
            </a:r>
            <a:endParaRPr lang="en-US" sz="1050" noProof="1"/>
          </a:p>
        </p:txBody>
      </p:sp>
      <p:sp>
        <p:nvSpPr>
          <p:cNvPr id="19" name="flow-caption"/>
          <p:cNvSpPr txBox="1"/>
          <p:nvPr/>
        </p:nvSpPr>
        <p:spPr>
          <a:xfrm>
            <a:off x="5969000" y="4902200"/>
            <a:ext cx="5740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Messy telemetry enters once; consistent security events leave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ready for search, correlation, and response.</a:t>
            </a:r>
            <a:endParaRPr lang="en-US" sz="1250" noProof="1"/>
          </a:p>
        </p:txBody>
      </p:sp>
      <p:sp>
        <p:nvSpPr>
          <p:cNvPr id="20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03</a:t>
            </a:r>
            <a:endParaRPr lang="en-US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03 · CORE CAPABILITIES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Four capabilities cover ingestion to deterministic execution</a:t>
            </a:r>
            <a:endParaRPr lang="en-US" sz="2800" noProof="1"/>
          </a:p>
        </p:txBody>
      </p:sp>
      <p:sp>
        <p:nvSpPr>
          <p:cNvPr id="4" name="intro"/>
          <p:cNvSpPr txBox="1"/>
          <p:nvPr/>
        </p:nvSpPr>
        <p:spPr>
          <a:xfrm>
            <a:off x="812800" y="15494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500" noProof="1">
                <a:solidFill>
                  <a:srgbClr val="9DAAB8"/>
                </a:solidFill>
                <a:latin typeface="Liter"/>
                <a:ea typeface="Liter"/>
              </a:rPr>
              <a:t>The pipeline separates one-time semantic understanding from always-on event processing.</a:t>
            </a:r>
            <a:endParaRPr lang="en-US" sz="1500" noProof="1"/>
          </a:p>
        </p:txBody>
      </p:sp>
      <p:sp>
        <p:nvSpPr>
          <p:cNvPr id="5" name="axis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eyJ2aWV3Qm94IjpbNzUyLDRdLCJwb2ludHMiOiIwLDIgNzUyLDIifQ</pptd:line>
              </p:ext>
            </p:extLst>
          </p:nvPr>
        </p:nvSpPr>
        <p:spPr>
          <a:xfrm>
            <a:off x="1320800" y="3022600"/>
            <a:ext cx="9550400" cy="50800"/>
          </a:xfrm>
          <a:custGeom>
            <a:avLst/>
            <a:gdLst/>
            <a:ahLst/>
            <a:cxnLst/>
            <a:rect l="l" t="t" r="r" b="b"/>
            <a:pathLst>
              <a:path w="752" h="4">
                <a:moveTo>
                  <a:pt x="0" y="2"/>
                </a:moveTo>
                <a:lnTo>
                  <a:pt x="752" y="2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" name="node1"/>
          <p:cNvSpPr/>
          <p:nvPr/>
        </p:nvSpPr>
        <p:spPr>
          <a:xfrm>
            <a:off x="1219200" y="2895600"/>
            <a:ext cx="279400" cy="2794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node2"/>
          <p:cNvSpPr/>
          <p:nvPr/>
        </p:nvSpPr>
        <p:spPr>
          <a:xfrm>
            <a:off x="4191000" y="2895600"/>
            <a:ext cx="279400" cy="279400"/>
          </a:xfrm>
          <a:prstGeom prst="ellipse">
            <a:avLst/>
          </a:prstGeom>
          <a:solidFill>
            <a:srgbClr val="7EA2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node3"/>
          <p:cNvSpPr/>
          <p:nvPr/>
        </p:nvSpPr>
        <p:spPr>
          <a:xfrm>
            <a:off x="7162800" y="2895600"/>
            <a:ext cx="279400" cy="2794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node4"/>
          <p:cNvSpPr/>
          <p:nvPr/>
        </p:nvSpPr>
        <p:spPr>
          <a:xfrm>
            <a:off x="10134600" y="2895600"/>
            <a:ext cx="279400" cy="279400"/>
          </a:xfrm>
          <a:prstGeom prst="ellipse">
            <a:avLst/>
          </a:prstGeom>
          <a:solidFill>
            <a:srgbClr val="52C3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eyJpY29uTmFtZSI6ImZhczpjbG91ZC1hcnJvdy11cCJ9</pptd:icon>
              </p:ext>
            </p:extLst>
          </p:nvPr>
        </p:nvSpPr>
        <p:spPr>
          <a:xfrm>
            <a:off x="965200" y="20828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44" y="480"/>
                </a:moveTo>
                <a:cubicBezTo>
                  <a:pt x="65" y="480"/>
                  <a:pt x="0" y="416"/>
                  <a:pt x="0" y="336"/>
                </a:cubicBezTo>
                <a:cubicBezTo>
                  <a:pt x="0" y="273"/>
                  <a:pt x="41" y="219"/>
                  <a:pt x="98" y="200"/>
                </a:cubicBezTo>
                <a:cubicBezTo>
                  <a:pt x="97" y="192"/>
                  <a:pt x="96" y="184"/>
                  <a:pt x="96" y="176"/>
                </a:cubicBezTo>
                <a:cubicBezTo>
                  <a:pt x="96" y="97"/>
                  <a:pt x="161" y="32"/>
                  <a:pt x="240" y="32"/>
                </a:cubicBezTo>
                <a:cubicBezTo>
                  <a:pt x="295" y="32"/>
                  <a:pt x="344" y="63"/>
                  <a:pt x="368" y="109"/>
                </a:cubicBezTo>
                <a:cubicBezTo>
                  <a:pt x="382" y="101"/>
                  <a:pt x="398" y="96"/>
                  <a:pt x="416" y="96"/>
                </a:cubicBezTo>
                <a:cubicBezTo>
                  <a:pt x="469" y="96"/>
                  <a:pt x="512" y="139"/>
                  <a:pt x="512" y="192"/>
                </a:cubicBezTo>
                <a:cubicBezTo>
                  <a:pt x="512" y="208"/>
                  <a:pt x="508" y="223"/>
                  <a:pt x="502" y="236"/>
                </a:cubicBezTo>
                <a:cubicBezTo>
                  <a:pt x="546" y="256"/>
                  <a:pt x="576" y="300"/>
                  <a:pt x="576" y="352"/>
                </a:cubicBezTo>
                <a:cubicBezTo>
                  <a:pt x="576" y="423"/>
                  <a:pt x="519" y="480"/>
                  <a:pt x="448" y="480"/>
                </a:cubicBezTo>
                <a:lnTo>
                  <a:pt x="144" y="480"/>
                </a:lnTo>
                <a:close/>
                <a:moveTo>
                  <a:pt x="305" y="191"/>
                </a:moveTo>
                <a:cubicBezTo>
                  <a:pt x="296" y="182"/>
                  <a:pt x="280" y="182"/>
                  <a:pt x="271" y="191"/>
                </a:cubicBezTo>
                <a:lnTo>
                  <a:pt x="199" y="263"/>
                </a:lnTo>
                <a:cubicBezTo>
                  <a:pt x="190" y="272"/>
                  <a:pt x="190" y="288"/>
                  <a:pt x="199" y="297"/>
                </a:cubicBezTo>
                <a:cubicBezTo>
                  <a:pt x="209" y="306"/>
                  <a:pt x="224" y="306"/>
                  <a:pt x="233" y="297"/>
                </a:cubicBezTo>
                <a:lnTo>
                  <a:pt x="264" y="266"/>
                </a:lnTo>
                <a:lnTo>
                  <a:pt x="264" y="368"/>
                </a:lnTo>
                <a:cubicBezTo>
                  <a:pt x="264" y="381"/>
                  <a:pt x="275" y="392"/>
                  <a:pt x="288" y="392"/>
                </a:cubicBezTo>
                <a:cubicBezTo>
                  <a:pt x="301" y="392"/>
                  <a:pt x="312" y="381"/>
                  <a:pt x="312" y="368"/>
                </a:cubicBezTo>
                <a:lnTo>
                  <a:pt x="312" y="266"/>
                </a:lnTo>
                <a:lnTo>
                  <a:pt x="343" y="297"/>
                </a:lnTo>
                <a:cubicBezTo>
                  <a:pt x="352" y="306"/>
                  <a:pt x="368" y="306"/>
                  <a:pt x="377" y="297"/>
                </a:cubicBezTo>
                <a:cubicBezTo>
                  <a:pt x="386" y="288"/>
                  <a:pt x="386" y="272"/>
                  <a:pt x="377" y="263"/>
                </a:cubicBezTo>
                <a:lnTo>
                  <a:pt x="305" y="191"/>
                </a:ln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eyJpY29uTmFtZSI6ImZhczpyb2JvdCJ9</pptd:icon>
              </p:ext>
            </p:extLst>
          </p:nvPr>
        </p:nvSpPr>
        <p:spPr>
          <a:xfrm>
            <a:off x="3937000" y="20828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7EA2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eyJpY29uTmFtZSI6ImZhczpjb2RlIn0</pptd:icon>
              </p:ext>
            </p:extLst>
          </p:nvPr>
        </p:nvSpPr>
        <p:spPr>
          <a:xfrm>
            <a:off x="6908800" y="20828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eyJpY29uTmFtZSI6ImZhczpzZXJ2ZXIifQ</pptd:icon>
              </p:ext>
            </p:extLst>
          </p:nvPr>
        </p:nvSpPr>
        <p:spPr>
          <a:xfrm>
            <a:off x="9880600" y="20828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w="448" h="512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52C3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label1"/>
          <p:cNvSpPr txBox="1"/>
          <p:nvPr/>
        </p:nvSpPr>
        <p:spPr>
          <a:xfrm>
            <a:off x="533400" y="35052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Omni-format ingestion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Syslog, JSON, CEF, LEEF, CSV, XML, custom text</a:t>
            </a:r>
            <a:endParaRPr lang="en-US" sz="1250" noProof="1"/>
          </a:p>
        </p:txBody>
      </p:sp>
      <p:sp>
        <p:nvSpPr>
          <p:cNvPr id="15" name="label2"/>
          <p:cNvSpPr txBox="1"/>
          <p:nvPr/>
        </p:nvSpPr>
        <p:spPr>
          <a:xfrm>
            <a:off x="3505200" y="35052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AI copilot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Reads semantics and proposes field mappings</a:t>
            </a:r>
            <a:endParaRPr lang="en-US" sz="1250" noProof="1"/>
          </a:p>
        </p:txBody>
      </p:sp>
      <p:sp>
        <p:nvSpPr>
          <p:cNvPr id="16" name="label3"/>
          <p:cNvSpPr txBox="1"/>
          <p:nvPr/>
        </p:nvSpPr>
        <p:spPr>
          <a:xfrm>
            <a:off x="6477000" y="35052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Deterministic generation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Compiles approved mappings to Regex / Grok</a:t>
            </a:r>
            <a:endParaRPr lang="en-US" sz="1250" noProof="1"/>
          </a:p>
        </p:txBody>
      </p:sp>
      <p:sp>
        <p:nvSpPr>
          <p:cNvPr id="17" name="label4"/>
          <p:cNvSpPr txBox="1"/>
          <p:nvPr/>
        </p:nvSpPr>
        <p:spPr>
          <a:xfrm>
            <a:off x="9448800" y="35052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Scalable pipeline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Kafka + OpenSearch for high-throughput search</a:t>
            </a:r>
            <a:endParaRPr lang="en-US" sz="1250" noProof="1"/>
          </a:p>
        </p:txBody>
      </p:sp>
      <p:sp>
        <p:nvSpPr>
          <p:cNvPr id="18" name="bottom-rule"/>
          <p:cNvSpPr/>
          <p:nvPr/>
        </p:nvSpPr>
        <p:spPr>
          <a:xfrm>
            <a:off x="812800" y="5130800"/>
            <a:ext cx="812800" cy="381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ottom-note"/>
          <p:cNvSpPr txBox="1"/>
          <p:nvPr/>
        </p:nvSpPr>
        <p:spPr>
          <a:xfrm>
            <a:off x="812800" y="5384800"/>
            <a:ext cx="1003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Boundary that matters: the LLM proposes mappings during onboarding;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the approved parser is what runs in the live event path.</a:t>
            </a:r>
            <a:endParaRPr lang="en-US" sz="1250" noProof="1"/>
          </a:p>
        </p:txBody>
      </p:sp>
      <p:sp>
        <p:nvSpPr>
          <p:cNvPr id="20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04</a:t>
            </a:r>
            <a:endParaRPr lang="en-US" sz="10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04 · AI-ASSISTED ONBOARDING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28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AI assists onboarding; deterministic parsers run live</a:t>
            </a:r>
            <a:endParaRPr lang="en-US" sz="2800" noProof="1"/>
          </a:p>
        </p:txBody>
      </p:sp>
      <p:sp>
        <p:nvSpPr>
          <p:cNvPr id="4" name="step1-num"/>
          <p:cNvSpPr txBox="1"/>
          <p:nvPr/>
        </p:nvSpPr>
        <p:spPr>
          <a:xfrm>
            <a:off x="812800" y="1676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F2A93B"/>
                </a:solidFill>
                <a:latin typeface="Liter"/>
                <a:ea typeface="Liter"/>
              </a:rPr>
              <a:t>1</a:t>
            </a:r>
            <a:endParaRPr lang="en-US" sz="2000" noProof="1"/>
          </a:p>
        </p:txBody>
      </p:sp>
      <p:sp>
        <p:nvSpPr>
          <p:cNvPr id="5" name="step1"/>
          <p:cNvSpPr txBox="1"/>
          <p:nvPr/>
        </p:nvSpPr>
        <p:spPr>
          <a:xfrm>
            <a:off x="1320800" y="16510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Paste</a:t>
            </a:r>
            <a:r>
              <a:rPr lang="en-US" sz="1500" noProof="1">
                <a:solidFill>
                  <a:srgbClr val="EAF1F7"/>
                </a:solidFill>
                <a:latin typeface="Liter"/>
                <a:ea typeface="Liter"/>
              </a:rPr>
              <a:t> an unknown, messy log into the UI.</a:t>
            </a:r>
            <a:endParaRPr lang="en-US" sz="1500" noProof="1"/>
          </a:p>
        </p:txBody>
      </p:sp>
      <p:sp>
        <p:nvSpPr>
          <p:cNvPr id="6" name="step2-num"/>
          <p:cNvSpPr txBox="1"/>
          <p:nvPr/>
        </p:nvSpPr>
        <p:spPr>
          <a:xfrm>
            <a:off x="812800" y="2489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F2A93B"/>
                </a:solidFill>
                <a:latin typeface="Liter"/>
                <a:ea typeface="Liter"/>
              </a:rPr>
              <a:t>2</a:t>
            </a:r>
            <a:endParaRPr lang="en-US" sz="2000" noProof="1"/>
          </a:p>
        </p:txBody>
      </p:sp>
      <p:sp>
        <p:nvSpPr>
          <p:cNvPr id="7" name="step2"/>
          <p:cNvSpPr txBox="1"/>
          <p:nvPr/>
        </p:nvSpPr>
        <p:spPr>
          <a:xfrm>
            <a:off x="1320800" y="2463800"/>
            <a:ext cx="419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Analyze</a:t>
            </a:r>
            <a:r>
              <a:rPr lang="en-US" sz="1500" noProof="1">
                <a:solidFill>
                  <a:srgbClr val="EAF1F7"/>
                </a:solidFill>
                <a:latin typeface="Liter"/>
                <a:ea typeface="Liter"/>
              </a:rPr>
              <a:t> semantics with an advanced LLM.</a:t>
            </a:r>
            <a:endParaRPr lang="en-US" sz="1500" noProof="1"/>
          </a:p>
          <a:p>
            <a:pPr>
              <a:lnSpc>
                <a:spcPct val="142000"/>
              </a:lnSpc>
            </a:pPr>
            <a:r>
              <a:rPr lang="en-US" sz="1500" noProof="1">
                <a:solidFill>
                  <a:srgbClr val="9DAAB8"/>
                </a:solidFill>
                <a:latin typeface="Liter"/>
                <a:ea typeface="Liter"/>
              </a:rPr>
              <a:t>Example target: Nvidia Nemotron-3-Ultra.</a:t>
            </a:r>
            <a:endParaRPr lang="en-US" sz="1500" noProof="1"/>
          </a:p>
        </p:txBody>
      </p:sp>
      <p:sp>
        <p:nvSpPr>
          <p:cNvPr id="8" name="step3-num"/>
          <p:cNvSpPr txBox="1"/>
          <p:nvPr/>
        </p:nvSpPr>
        <p:spPr>
          <a:xfrm>
            <a:off x="812800" y="3479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F2A93B"/>
                </a:solidFill>
                <a:latin typeface="Liter"/>
                <a:ea typeface="Liter"/>
              </a:rPr>
              <a:t>3</a:t>
            </a:r>
            <a:endParaRPr lang="en-US" sz="2000" noProof="1"/>
          </a:p>
        </p:txBody>
      </p:sp>
      <p:sp>
        <p:nvSpPr>
          <p:cNvPr id="9" name="step3"/>
          <p:cNvSpPr txBox="1"/>
          <p:nvPr/>
        </p:nvSpPr>
        <p:spPr>
          <a:xfrm>
            <a:off x="1320800" y="3454400"/>
            <a:ext cx="4191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Map</a:t>
            </a:r>
            <a:r>
              <a:rPr lang="en-US" sz="1500" noProof="1">
                <a:solidFill>
                  <a:srgbClr val="EAF1F7"/>
                </a:solidFill>
                <a:latin typeface="Liter"/>
                <a:ea typeface="Liter"/>
              </a:rPr>
              <a:t> cryptic keys to schema fields.</a:t>
            </a:r>
            <a:endParaRPr lang="en-US" sz="1500" noProof="1"/>
          </a:p>
          <a:p>
            <a:pPr>
              <a:lnSpc>
                <a:spcPct val="142000"/>
              </a:lnSpc>
            </a:pPr>
            <a:r>
              <a:rPr lang="en-US" sz="1500" noProof="1">
                <a:solidFill>
                  <a:srgbClr val="9DAAB8"/>
                </a:solidFill>
                <a:latin typeface="Liter"/>
                <a:ea typeface="Liter"/>
              </a:rPr>
              <a:t>"spt": 443 → source.port: 443</a:t>
            </a:r>
            <a:endParaRPr lang="en-US" sz="1500" noProof="1"/>
          </a:p>
        </p:txBody>
      </p:sp>
      <p:sp>
        <p:nvSpPr>
          <p:cNvPr id="10" name="step4-num"/>
          <p:cNvSpPr txBox="1"/>
          <p:nvPr/>
        </p:nvSpPr>
        <p:spPr>
          <a:xfrm>
            <a:off x="812800" y="4470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F2A93B"/>
                </a:solidFill>
                <a:latin typeface="Liter"/>
                <a:ea typeface="Liter"/>
              </a:rPr>
              <a:t>4</a:t>
            </a:r>
            <a:endParaRPr lang="en-US" sz="2000" noProof="1"/>
          </a:p>
        </p:txBody>
      </p:sp>
      <p:sp>
        <p:nvSpPr>
          <p:cNvPr id="11" name="step4"/>
          <p:cNvSpPr txBox="1"/>
          <p:nvPr/>
        </p:nvSpPr>
        <p:spPr>
          <a:xfrm>
            <a:off x="1320800" y="44450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Generate</a:t>
            </a:r>
            <a:r>
              <a:rPr lang="en-US" sz="1500" noProof="1">
                <a:solidFill>
                  <a:srgbClr val="EAF1F7"/>
                </a:solidFill>
                <a:latin typeface="Liter"/>
                <a:ea typeface="Liter"/>
              </a:rPr>
              <a:t> the Regex / Grok parser after analyst approval.</a:t>
            </a:r>
            <a:endParaRPr lang="en-US" sz="1500" noProof="1"/>
          </a:p>
        </p:txBody>
      </p:sp>
      <p:sp>
        <p:nvSpPr>
          <p:cNvPr id="12" name="raw-panel"/>
          <p:cNvSpPr/>
          <p:nvPr/>
        </p:nvSpPr>
        <p:spPr>
          <a:xfrm>
            <a:off x="6121400" y="1727200"/>
            <a:ext cx="2311400" cy="31242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aw-title"/>
          <p:cNvSpPr txBox="1"/>
          <p:nvPr/>
        </p:nvSpPr>
        <p:spPr>
          <a:xfrm>
            <a:off x="6324600" y="1905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b="1" noProof="1">
                <a:solidFill>
                  <a:srgbClr val="9DAAB8"/>
                </a:solidFill>
                <a:latin typeface="Liter"/>
                <a:ea typeface="Liter"/>
              </a:rPr>
              <a:t>RAW LOG</a:t>
            </a:r>
            <a:endParaRPr lang="en-US" sz="1050" noProof="1"/>
          </a:p>
        </p:txBody>
      </p:sp>
      <p:sp>
        <p:nvSpPr>
          <p:cNvPr id="14" name="raw-text"/>
          <p:cNvSpPr txBox="1"/>
          <p:nvPr/>
        </p:nvSpPr>
        <p:spPr>
          <a:xfrm>
            <a:off x="6324600" y="2260600"/>
            <a:ext cx="19050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{"vendor":"acme-fw",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 "spt":443,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 "src":"10.0.8.21",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 "act":"deny",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 "msg":"blocked"}</a:t>
            </a:r>
            <a:endParaRPr lang="en-US" sz="1150" noProof="1"/>
          </a:p>
        </p:txBody>
      </p:sp>
      <p:sp>
        <p:nvSpPr>
          <p:cNvPr id="15" name="map-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eyJ2aWV3Qm94IjpbNTYsOF0sInBvaW50cyI6IjAsNCA1Niw0In0</pptd:line>
              </p:ext>
            </p:extLst>
          </p:nvPr>
        </p:nvSpPr>
        <p:spPr>
          <a:xfrm>
            <a:off x="8559800" y="3175000"/>
            <a:ext cx="711200" cy="101600"/>
          </a:xfrm>
          <a:custGeom>
            <a:avLst/>
            <a:gdLst/>
            <a:ahLst/>
            <a:cxnLst/>
            <a:rect l="l" t="t" r="r" b="b"/>
            <a:pathLst>
              <a:path w="56" h="8">
                <a:moveTo>
                  <a:pt x="0" y="4"/>
                </a:moveTo>
                <a:lnTo>
                  <a:pt x="56" y="4"/>
                </a:lnTo>
              </a:path>
            </a:pathLst>
          </a:custGeom>
          <a:noFill/>
          <a:ln w="38100" cap="rnd">
            <a:solidFill>
              <a:srgbClr val="F2A93B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ed-panel"/>
          <p:cNvSpPr/>
          <p:nvPr/>
        </p:nvSpPr>
        <p:spPr>
          <a:xfrm>
            <a:off x="9398000" y="1727200"/>
            <a:ext cx="2311400" cy="3124200"/>
          </a:xfrm>
          <a:prstGeom prst="rect">
            <a:avLst/>
          </a:prstGeom>
          <a:solidFill>
            <a:srgbClr val="13202B"/>
          </a:solidFill>
          <a:ln w="127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mapped-title"/>
          <p:cNvSpPr txBox="1"/>
          <p:nvPr/>
        </p:nvSpPr>
        <p:spPr>
          <a:xfrm>
            <a:off x="9601200" y="1905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b="1" noProof="1">
                <a:solidFill>
                  <a:srgbClr val="F2A93B"/>
                </a:solidFill>
                <a:latin typeface="Liter"/>
                <a:ea typeface="Liter"/>
              </a:rPr>
              <a:t>AI FIELD MAP</a:t>
            </a:r>
            <a:endParaRPr lang="en-US" sz="1050" noProof="1"/>
          </a:p>
        </p:txBody>
      </p:sp>
      <p:sp>
        <p:nvSpPr>
          <p:cNvPr id="18" name="mapped-text"/>
          <p:cNvSpPr txBox="1"/>
          <p:nvPr/>
        </p:nvSpPr>
        <p:spPr>
          <a:xfrm>
            <a:off x="9601200" y="2260600"/>
            <a:ext cx="19050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vendor.name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source.port ← spt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actor.ip ← src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event.action ← act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EAF1F7"/>
                </a:solidFill>
                <a:latin typeface="Liter"/>
                <a:ea typeface="Liter"/>
              </a:rPr>
              <a:t>event.outcome ← msg</a:t>
            </a:r>
            <a:endParaRPr lang="en-US" sz="1150" noProof="1"/>
          </a:p>
        </p:txBody>
      </p:sp>
      <p:sp>
        <p:nvSpPr>
          <p:cNvPr id="19" name="approval-strip"/>
          <p:cNvSpPr/>
          <p:nvPr/>
        </p:nvSpPr>
        <p:spPr>
          <a:xfrm>
            <a:off x="6121400" y="5130800"/>
            <a:ext cx="5588000" cy="25400"/>
          </a:xfrm>
          <a:prstGeom prst="rect">
            <a:avLst/>
          </a:prstGeom>
          <a:solidFill>
            <a:srgbClr val="2A39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approval-text"/>
          <p:cNvSpPr txBox="1"/>
          <p:nvPr/>
        </p:nvSpPr>
        <p:spPr>
          <a:xfrm>
            <a:off x="6121400" y="53340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52C39A"/>
                </a:solidFill>
                <a:latin typeface="Liter"/>
                <a:ea typeface="Liter"/>
              </a:rPr>
              <a:t>Human approval stays in the loop.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The generated parser is deterministic, reviewable, and versioned.</a:t>
            </a:r>
            <a:endParaRPr lang="en-US" sz="1250" noProof="1"/>
          </a:p>
        </p:txBody>
      </p:sp>
      <p:sp>
        <p:nvSpPr>
          <p:cNvPr id="21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05</a:t>
            </a:r>
            <a:endParaRPr lang="en-US" sz="10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05 · UNIVERSAL EVENT SCHEMA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One schema lets SOC rules apply across every device</a:t>
            </a:r>
            <a:endParaRPr lang="en-US" sz="2800" noProof="1"/>
          </a:p>
        </p:txBody>
      </p:sp>
      <p:sp>
        <p:nvSpPr>
          <p:cNvPr id="4" name="intro"/>
          <p:cNvSpPr txBox="1"/>
          <p:nvPr/>
        </p:nvSpPr>
        <p:spPr>
          <a:xfrm>
            <a:off x="812800" y="15494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500" noProof="1">
                <a:solidFill>
                  <a:srgbClr val="9DAAB8"/>
                </a:solidFill>
                <a:latin typeface="Liter"/>
                <a:ea typeface="Liter"/>
              </a:rPr>
              <a:t>Source-specific names collapse into stable fields that detection logic can reuse.</a:t>
            </a:r>
            <a:endParaRPr lang="en-US" sz="1500" noProof="1"/>
          </a:p>
        </p:txBody>
      </p:sp>
      <p:sp>
        <p:nvSpPr>
          <p:cNvPr id="5" name="left-title"/>
          <p:cNvSpPr txBox="1"/>
          <p:nvPr/>
        </p:nvSpPr>
        <p:spPr>
          <a:xfrm>
            <a:off x="965200" y="2108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SOURCE FIELD NAMES</a:t>
            </a:r>
            <a:endParaRPr lang="en-US" sz="1250" noProof="1"/>
          </a:p>
        </p:txBody>
      </p:sp>
      <p:sp>
        <p:nvSpPr>
          <p:cNvPr id="6" name="src-a"/>
          <p:cNvSpPr txBox="1"/>
          <p:nvPr/>
        </p:nvSpPr>
        <p:spPr>
          <a:xfrm>
            <a:off x="965200" y="26162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Firewall A  ·  src_ip</a:t>
            </a:r>
            <a:endParaRPr lang="en-US" sz="1400" noProof="1"/>
          </a:p>
        </p:txBody>
      </p:sp>
      <p:sp>
        <p:nvSpPr>
          <p:cNvPr id="7" name="src-b"/>
          <p:cNvSpPr txBox="1"/>
          <p:nvPr/>
        </p:nvSpPr>
        <p:spPr>
          <a:xfrm>
            <a:off x="965200" y="33782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Web server B  ·  clientIP</a:t>
            </a:r>
            <a:endParaRPr lang="en-US" sz="1400" noProof="1"/>
          </a:p>
        </p:txBody>
      </p:sp>
      <p:sp>
        <p:nvSpPr>
          <p:cNvPr id="8" name="src-c"/>
          <p:cNvSpPr txBox="1"/>
          <p:nvPr/>
        </p:nvSpPr>
        <p:spPr>
          <a:xfrm>
            <a:off x="965200" y="41402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Cloud C  ·  spt</a:t>
            </a:r>
            <a:endParaRPr lang="en-US" sz="1400" noProof="1"/>
          </a:p>
        </p:txBody>
      </p:sp>
      <p:sp>
        <p:nvSpPr>
          <p:cNvPr id="9" name="line-a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eyJ2aWV3Qm94IjpbMTUyLDQwXSwicG9pbnRzIjoiMCwwIDE1Miw0MCJ9</pptd:line>
              </p:ext>
            </p:extLst>
          </p:nvPr>
        </p:nvSpPr>
        <p:spPr>
          <a:xfrm>
            <a:off x="3708400" y="2794000"/>
            <a:ext cx="1930400" cy="508000"/>
          </a:xfrm>
          <a:custGeom>
            <a:avLst/>
            <a:gdLst/>
            <a:ahLst/>
            <a:cxnLst/>
            <a:rect l="l" t="t" r="r" b="b"/>
            <a:pathLst>
              <a:path w="152" h="40">
                <a:moveTo>
                  <a:pt x="0" y="0"/>
                </a:moveTo>
                <a:lnTo>
                  <a:pt x="152" y="40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line-b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eyJ2aWV3Qm94IjpbMTUyLDRdLCJwb2ludHMiOiIwLDIgMTUyLDIifQ</pptd:line>
              </p:ext>
            </p:extLst>
          </p:nvPr>
        </p:nvSpPr>
        <p:spPr>
          <a:xfrm>
            <a:off x="3708400" y="3556000"/>
            <a:ext cx="1930400" cy="50800"/>
          </a:xfrm>
          <a:custGeom>
            <a:avLst/>
            <a:gdLst/>
            <a:ahLst/>
            <a:cxnLst/>
            <a:rect l="l" t="t" r="r" b="b"/>
            <a:pathLst>
              <a:path w="152" h="4">
                <a:moveTo>
                  <a:pt x="0" y="2"/>
                </a:moveTo>
                <a:lnTo>
                  <a:pt x="152" y="2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-c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eyJ2aWV3Qm94IjpbMTUyLDQwXSwicG9pbnRzIjoiMCw0MCAxNTIsMCJ9</pptd:line>
              </p:ext>
            </p:extLst>
          </p:nvPr>
        </p:nvSpPr>
        <p:spPr>
          <a:xfrm>
            <a:off x="3708400" y="3810000"/>
            <a:ext cx="1930400" cy="508000"/>
          </a:xfrm>
          <a:custGeom>
            <a:avLst/>
            <a:gdLst/>
            <a:ahLst/>
            <a:cxnLst/>
            <a:rect l="l" t="t" r="r" b="b"/>
            <a:pathLst>
              <a:path w="152" h="40">
                <a:moveTo>
                  <a:pt x="0" y="40"/>
                </a:moveTo>
                <a:lnTo>
                  <a:pt x="152" y="0"/>
                </a:lnTo>
              </a:path>
            </a:pathLst>
          </a:custGeom>
          <a:noFill/>
          <a:ln w="25400" cap="rnd">
            <a:solidFill>
              <a:srgbClr val="2A3946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chema-box"/>
          <p:cNvSpPr/>
          <p:nvPr/>
        </p:nvSpPr>
        <p:spPr>
          <a:xfrm>
            <a:off x="5740400" y="2159000"/>
            <a:ext cx="2921000" cy="2794000"/>
          </a:xfrm>
          <a:prstGeom prst="rect">
            <a:avLst/>
          </a:prstGeom>
          <a:solidFill>
            <a:srgbClr val="142231"/>
          </a:solidFill>
          <a:ln w="254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schema-title"/>
          <p:cNvSpPr txBox="1"/>
          <p:nvPr/>
        </p:nvSpPr>
        <p:spPr>
          <a:xfrm>
            <a:off x="5969000" y="2362200"/>
            <a:ext cx="246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F2A93B"/>
                </a:solidFill>
                <a:latin typeface="Liter"/>
                <a:ea typeface="Liter"/>
              </a:rPr>
              <a:t>UNIVERSAL EVENT SCHEMA</a:t>
            </a:r>
            <a:endParaRPr lang="en-US" sz="1250" noProof="1"/>
          </a:p>
        </p:txBody>
      </p:sp>
      <p:sp>
        <p:nvSpPr>
          <p:cNvPr id="14" name="schema-fields"/>
          <p:cNvSpPr txBox="1"/>
          <p:nvPr/>
        </p:nvSpPr>
        <p:spPr>
          <a:xfrm>
            <a:off x="5969000" y="2794000"/>
            <a:ext cx="2463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timestamp</a:t>
            </a:r>
            <a:endParaRPr lang="en-US" sz="1400" noProof="1"/>
          </a:p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F2A93B"/>
                </a:solidFill>
                <a:latin typeface="Liter"/>
                <a:ea typeface="Liter"/>
              </a:rPr>
              <a:t>actor.ip</a:t>
            </a:r>
            <a:endParaRPr lang="en-US" sz="1400" noProof="1"/>
          </a:p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target.ip</a:t>
            </a:r>
            <a:endParaRPr lang="en-US" sz="1400" noProof="1"/>
          </a:p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source.port</a:t>
            </a:r>
            <a:endParaRPr lang="en-US" sz="1400" noProof="1"/>
          </a:p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event.action</a:t>
            </a:r>
            <a:endParaRPr lang="en-US" sz="1400" noProof="1"/>
          </a:p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EAF1F7"/>
                </a:solidFill>
                <a:latin typeface="Liter"/>
                <a:ea typeface="Liter"/>
              </a:rPr>
              <a:t>event.outcome</a:t>
            </a:r>
            <a:endParaRPr lang="en-US" sz="1400" noProof="1"/>
          </a:p>
        </p:txBody>
      </p:sp>
      <p:sp>
        <p:nvSpPr>
          <p:cNvPr id="15" name="rule-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eyJ2aWV3Qm94IjpbNjIsNF0sInBvaW50cyI6IjAsMiA2MiwyIn0</pptd:line>
              </p:ext>
            </p:extLst>
          </p:nvPr>
        </p:nvSpPr>
        <p:spPr>
          <a:xfrm>
            <a:off x="8737600" y="35306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62" h="4">
                <a:moveTo>
                  <a:pt x="0" y="2"/>
                </a:moveTo>
                <a:lnTo>
                  <a:pt x="62" y="2"/>
                </a:lnTo>
              </a:path>
            </a:pathLst>
          </a:custGeom>
          <a:noFill/>
          <a:ln w="381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rule-box"/>
          <p:cNvSpPr/>
          <p:nvPr/>
        </p:nvSpPr>
        <p:spPr>
          <a:xfrm>
            <a:off x="9626600" y="2413000"/>
            <a:ext cx="2006600" cy="2235200"/>
          </a:xfrm>
          <a:prstGeom prst="rect">
            <a:avLst/>
          </a:prstGeom>
          <a:solidFill>
            <a:srgbClr val="111B24"/>
          </a:solidFill>
          <a:ln w="12700">
            <a:solidFill>
              <a:srgbClr val="5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ule-title"/>
          <p:cNvSpPr txBox="1"/>
          <p:nvPr/>
        </p:nvSpPr>
        <p:spPr>
          <a:xfrm>
            <a:off x="9829800" y="26162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52C39A"/>
                </a:solidFill>
                <a:latin typeface="Liter"/>
                <a:ea typeface="Liter"/>
              </a:rPr>
              <a:t>SOC RULE</a:t>
            </a:r>
            <a:endParaRPr lang="en-US" sz="1250" noProof="1"/>
          </a:p>
        </p:txBody>
      </p:sp>
      <p:sp>
        <p:nvSpPr>
          <p:cNvPr id="18" name="rule-text"/>
          <p:cNvSpPr txBox="1"/>
          <p:nvPr/>
        </p:nvSpPr>
        <p:spPr>
          <a:xfrm>
            <a:off x="9829800" y="3022600"/>
            <a:ext cx="1600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WHERE actor.ip</a:t>
            </a:r>
            <a:endParaRPr lang="en-US" sz="1250" noProof="1"/>
          </a:p>
          <a:p>
            <a:pPr>
              <a:lnSpc>
                <a:spcPct val="130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IS suspicious</a:t>
            </a:r>
            <a:endParaRPr lang="en-US" sz="1250" noProof="1"/>
          </a:p>
          <a:p>
            <a:pPr>
              <a:lnSpc>
                <a:spcPct val="130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AND event.action</a:t>
            </a:r>
            <a:endParaRPr lang="en-US" sz="1250" noProof="1"/>
          </a:p>
          <a:p>
            <a:pPr>
              <a:lnSpc>
                <a:spcPct val="130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= deny</a:t>
            </a:r>
            <a:endParaRPr lang="en-US" sz="1250" noProof="1"/>
          </a:p>
        </p:txBody>
      </p:sp>
      <p:sp>
        <p:nvSpPr>
          <p:cNvPr id="19" name="rule-note"/>
          <p:cNvSpPr txBox="1"/>
          <p:nvPr/>
        </p:nvSpPr>
        <p:spPr>
          <a:xfrm>
            <a:off x="9626600" y="4851400"/>
            <a:ext cx="2006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Write once.</a:t>
            </a:r>
            <a:endParaRPr lang="en-US" sz="1050" noProof="1"/>
          </a:p>
          <a:p>
            <a:pPr algn="ct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Apply to all normalized sources.</a:t>
            </a:r>
            <a:endParaRPr lang="en-US" sz="1050" noProof="1"/>
          </a:p>
        </p:txBody>
      </p:sp>
      <p:sp>
        <p:nvSpPr>
          <p:cNvPr id="20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06</a:t>
            </a:r>
            <a:endParaRPr lang="en-US" sz="10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06 · HIGH-SPEED DETERMINISTIC PIPELINE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AI stays off the live path; compiled parsers carry the traffic</a:t>
            </a:r>
            <a:endParaRPr lang="en-US" sz="2800" noProof="1"/>
          </a:p>
        </p:txBody>
      </p:sp>
      <p:sp>
        <p:nvSpPr>
          <p:cNvPr id="4" name="body"/>
          <p:cNvSpPr txBox="1"/>
          <p:nvPr/>
        </p:nvSpPr>
        <p:spPr>
          <a:xfrm>
            <a:off x="812800" y="1676400"/>
            <a:ext cx="4343400" cy="287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AI is used for </a:t>
            </a:r>
            <a:r>
              <a:rPr lang="en-US" sz="1550" b="1" noProof="1">
                <a:solidFill>
                  <a:srgbClr val="EAF1F7"/>
                </a:solidFill>
                <a:latin typeface="Liter"/>
                <a:ea typeface="Liter"/>
              </a:rPr>
              <a:t>onboarding</a:t>
            </a: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, not per-event inference.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Approved mappings compile into strict Regex / Grok parsers.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The live path runs locally against those deterministic parsers.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This keeps latency, cost, and data movement under enterprise control.</a:t>
            </a:r>
            <a:endParaRPr lang="en-US" sz="1550" noProof="1"/>
          </a:p>
        </p:txBody>
      </p:sp>
      <p:sp>
        <p:nvSpPr>
          <p:cNvPr id="5" name="note-rule"/>
          <p:cNvSpPr/>
          <p:nvPr/>
        </p:nvSpPr>
        <p:spPr>
          <a:xfrm>
            <a:off x="812800" y="4851400"/>
            <a:ext cx="812800" cy="381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ote"/>
          <p:cNvSpPr txBox="1"/>
          <p:nvPr/>
        </p:nvSpPr>
        <p:spPr>
          <a:xfrm>
            <a:off x="812800" y="5080000"/>
            <a:ext cx="434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F2A93B"/>
                </a:solidFill>
                <a:latin typeface="Liter"/>
                <a:ea typeface="Liter"/>
              </a:rPr>
              <a:t>Result:</a:t>
            </a: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 predictable execution with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no per-event API call and no parser drift.</a:t>
            </a:r>
            <a:endParaRPr lang="en-US" sz="1250" noProof="1"/>
          </a:p>
        </p:txBody>
      </p:sp>
      <p:sp>
        <p:nvSpPr>
          <p:cNvPr id="7" name="ai-node"/>
          <p:cNvSpPr/>
          <p:nvPr/>
        </p:nvSpPr>
        <p:spPr>
          <a:xfrm>
            <a:off x="6350000" y="1676400"/>
            <a:ext cx="1905000" cy="685800"/>
          </a:xfrm>
          <a:prstGeom prst="rect">
            <a:avLst/>
          </a:prstGeom>
          <a:solidFill>
            <a:srgbClr val="111B24"/>
          </a:solidFill>
          <a:ln w="12700">
            <a:solidFill>
              <a:srgbClr val="7EA2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ai-text"/>
          <p:cNvSpPr txBox="1"/>
          <p:nvPr/>
        </p:nvSpPr>
        <p:spPr>
          <a:xfrm>
            <a:off x="6527800" y="1828800"/>
            <a:ext cx="1549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7EA2D8"/>
                </a:solidFill>
                <a:latin typeface="Liter"/>
                <a:ea typeface="Liter"/>
              </a:rPr>
              <a:t>AI copilot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onboarding only</a:t>
            </a:r>
            <a:endParaRPr lang="en-US" sz="1250" noProof="1"/>
          </a:p>
        </p:txBody>
      </p:sp>
      <p:sp>
        <p:nvSpPr>
          <p:cNvPr id="9" name="ai-link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eyJ2aWV3Qm94IjpbNCw2Ml0sInBvaW50cyI6IjIsMCAyLDYyIn0</pptd:line>
              </p:ext>
            </p:extLst>
          </p:nvPr>
        </p:nvSpPr>
        <p:spPr>
          <a:xfrm>
            <a:off x="7289800" y="2413000"/>
            <a:ext cx="50800" cy="787400"/>
          </a:xfrm>
          <a:custGeom>
            <a:avLst/>
            <a:gdLst/>
            <a:ahLst/>
            <a:cxnLst/>
            <a:rect l="l" t="t" r="r" b="b"/>
            <a:pathLst>
              <a:path w="4" h="62">
                <a:moveTo>
                  <a:pt x="2" y="0"/>
                </a:moveTo>
                <a:lnTo>
                  <a:pt x="2" y="62"/>
                </a:lnTo>
              </a:path>
            </a:pathLst>
          </a:custGeom>
          <a:noFill/>
          <a:ln w="25400" cap="rnd">
            <a:solidFill>
              <a:srgbClr val="7EA2D8"/>
            </a:solidFill>
            <a:prstDash val="dash"/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live-label"/>
          <p:cNvSpPr txBox="1"/>
          <p:nvPr/>
        </p:nvSpPr>
        <p:spPr>
          <a:xfrm>
            <a:off x="5740400" y="2717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b="1" noProof="1">
                <a:solidFill>
                  <a:srgbClr val="52C39A"/>
                </a:solidFill>
                <a:latin typeface="Liter"/>
                <a:ea typeface="Liter"/>
              </a:rPr>
              <a:t>LIVE PATH</a:t>
            </a:r>
            <a:endParaRPr lang="en-US" sz="1050" noProof="1"/>
          </a:p>
        </p:txBody>
      </p:sp>
      <p:sp>
        <p:nvSpPr>
          <p:cNvPr id="11" name="n1"/>
          <p:cNvSpPr/>
          <p:nvPr/>
        </p:nvSpPr>
        <p:spPr>
          <a:xfrm>
            <a:off x="5740400" y="3225800"/>
            <a:ext cx="1320800" cy="812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n1t"/>
          <p:cNvSpPr txBox="1"/>
          <p:nvPr/>
        </p:nvSpPr>
        <p:spPr>
          <a:xfrm>
            <a:off x="5892800" y="3403600"/>
            <a:ext cx="10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Vendor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logs</a:t>
            </a:r>
            <a:endParaRPr lang="en-US" sz="1250" noProof="1"/>
          </a:p>
        </p:txBody>
      </p:sp>
      <p:sp>
        <p:nvSpPr>
          <p:cNvPr id="13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eyJ2aWV3Qm94IjpbNDgsNF0sInBvaW50cyI6IjAsMiA0OCwyIn0</pptd:line>
              </p:ext>
            </p:extLst>
          </p:nvPr>
        </p:nvSpPr>
        <p:spPr>
          <a:xfrm>
            <a:off x="7112000" y="36068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48" h="4">
                <a:moveTo>
                  <a:pt x="0" y="2"/>
                </a:moveTo>
                <a:lnTo>
                  <a:pt x="48" y="2"/>
                </a:lnTo>
              </a:path>
            </a:pathLst>
          </a:custGeom>
          <a:noFill/>
          <a:ln w="381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n2"/>
          <p:cNvSpPr/>
          <p:nvPr/>
        </p:nvSpPr>
        <p:spPr>
          <a:xfrm>
            <a:off x="7772400" y="3225800"/>
            <a:ext cx="1320800" cy="812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n2t"/>
          <p:cNvSpPr txBox="1"/>
          <p:nvPr/>
        </p:nvSpPr>
        <p:spPr>
          <a:xfrm>
            <a:off x="7924800" y="3403600"/>
            <a:ext cx="101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Apache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Kafka</a:t>
            </a:r>
            <a:endParaRPr lang="en-US" sz="1250" noProof="1"/>
          </a:p>
        </p:txBody>
      </p:sp>
      <p:sp>
        <p:nvSpPr>
          <p:cNvPr id="16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eyJ2aWV3Qm94IjpbNDgsNF0sInBvaW50cyI6IjAsMiA0OCwyIn0</pptd:line>
              </p:ext>
            </p:extLst>
          </p:nvPr>
        </p:nvSpPr>
        <p:spPr>
          <a:xfrm>
            <a:off x="9144000" y="36068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48" h="4">
                <a:moveTo>
                  <a:pt x="0" y="2"/>
                </a:moveTo>
                <a:lnTo>
                  <a:pt x="48" y="2"/>
                </a:lnTo>
              </a:path>
            </a:pathLst>
          </a:custGeom>
          <a:noFill/>
          <a:ln w="381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n3"/>
          <p:cNvSpPr/>
          <p:nvPr/>
        </p:nvSpPr>
        <p:spPr>
          <a:xfrm>
            <a:off x="9804400" y="2997200"/>
            <a:ext cx="1600200" cy="1219200"/>
          </a:xfrm>
          <a:prstGeom prst="rect">
            <a:avLst/>
          </a:prstGeom>
          <a:solidFill>
            <a:srgbClr val="18242F"/>
          </a:solidFill>
          <a:ln w="254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n3t"/>
          <p:cNvSpPr txBox="1"/>
          <p:nvPr/>
        </p:nvSpPr>
        <p:spPr>
          <a:xfrm>
            <a:off x="9982200" y="3200400"/>
            <a:ext cx="1244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b="1" noProof="1">
                <a:solidFill>
                  <a:srgbClr val="F2A93B"/>
                </a:solidFill>
                <a:latin typeface="Liter"/>
                <a:ea typeface="Liter"/>
              </a:rPr>
              <a:t>Compiled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b="1" noProof="1">
                <a:solidFill>
                  <a:srgbClr val="F2A93B"/>
                </a:solidFill>
                <a:latin typeface="Liter"/>
                <a:ea typeface="Liter"/>
              </a:rPr>
              <a:t>Regex / Grok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parser</a:t>
            </a:r>
            <a:endParaRPr lang="en-US" sz="1250" noProof="1"/>
          </a:p>
        </p:txBody>
      </p:sp>
      <p:sp>
        <p:nvSpPr>
          <p:cNvPr id="19" name="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eyJ2aWV3Qm94IjpbNCw1NF0sInBvaW50cyI6IjIsMCAyLDU0In0</pptd:line>
              </p:ext>
            </p:extLst>
          </p:nvPr>
        </p:nvSpPr>
        <p:spPr>
          <a:xfrm>
            <a:off x="9779000" y="4521200"/>
            <a:ext cx="50800" cy="685800"/>
          </a:xfrm>
          <a:custGeom>
            <a:avLst/>
            <a:gdLst/>
            <a:ahLst/>
            <a:cxnLst/>
            <a:rect l="l" t="t" r="r" b="b"/>
            <a:pathLst>
              <a:path w="4" h="54">
                <a:moveTo>
                  <a:pt x="2" y="0"/>
                </a:moveTo>
                <a:lnTo>
                  <a:pt x="2" y="54"/>
                </a:lnTo>
              </a:path>
            </a:pathLst>
          </a:custGeom>
          <a:noFill/>
          <a:ln w="381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n4"/>
          <p:cNvSpPr/>
          <p:nvPr/>
        </p:nvSpPr>
        <p:spPr>
          <a:xfrm>
            <a:off x="8966200" y="5257800"/>
            <a:ext cx="1676400" cy="685800"/>
          </a:xfrm>
          <a:prstGeom prst="rect">
            <a:avLst/>
          </a:prstGeom>
          <a:solidFill>
            <a:srgbClr val="111B24"/>
          </a:solidFill>
          <a:ln w="12700">
            <a:solidFill>
              <a:srgbClr val="5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n4t"/>
          <p:cNvSpPr txBox="1"/>
          <p:nvPr/>
        </p:nvSpPr>
        <p:spPr>
          <a:xfrm>
            <a:off x="9118600" y="5410200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OpenSearch / SOC</a:t>
            </a:r>
            <a:endParaRPr lang="en-US" sz="1250" noProof="1"/>
          </a:p>
        </p:txBody>
      </p:sp>
      <p:sp>
        <p:nvSpPr>
          <p:cNvPr id="22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07</a:t>
            </a:r>
            <a:endParaRPr lang="en-US" sz="10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07 · ARCHITECTURE &amp; TECH STACK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Microservices scale ingestion, search, and onboarding</a:t>
            </a:r>
            <a:endParaRPr lang="en-US" sz="2800" noProof="1"/>
          </a:p>
        </p:txBody>
      </p:sp>
      <p:sp>
        <p:nvSpPr>
          <p:cNvPr id="4" name="ui-region"/>
          <p:cNvSpPr/>
          <p:nvPr/>
        </p:nvSpPr>
        <p:spPr>
          <a:xfrm>
            <a:off x="889000" y="1778000"/>
            <a:ext cx="10414000" cy="939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ui-label"/>
          <p:cNvSpPr txBox="1"/>
          <p:nvPr/>
        </p:nvSpPr>
        <p:spPr>
          <a:xfrm>
            <a:off x="1143000" y="1981200"/>
            <a:ext cx="152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EXPERIENCE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layer</a:t>
            </a:r>
            <a:endParaRPr lang="en-US" sz="1250" noProof="1"/>
          </a:p>
        </p:txBody>
      </p:sp>
      <p:sp>
        <p:nvSpPr>
          <p:cNvPr id="6" name="ui-text"/>
          <p:cNvSpPr txBox="1"/>
          <p:nvPr/>
        </p:nvSpPr>
        <p:spPr>
          <a:xfrm>
            <a:off x="2870200" y="1955800"/>
            <a:ext cx="787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600" b="1" noProof="1">
                <a:solidFill>
                  <a:srgbClr val="EAF1F7"/>
                </a:solidFill>
                <a:latin typeface="Liter"/>
                <a:ea typeface="Liter"/>
              </a:rPr>
              <a:t>Next.js 16 · React 19 · Tailwind CSS</a:t>
            </a:r>
            <a:endParaRPr lang="en-US" sz="1600" noProof="1"/>
          </a:p>
          <a:p>
            <a:pPr>
              <a:lnSpc>
                <a:spcPct val="142000"/>
              </a:lnSpc>
            </a:pPr>
            <a:r>
              <a:rPr lang="en-US" sz="1600" noProof="1">
                <a:solidFill>
                  <a:srgbClr val="9DAAB8"/>
                </a:solidFill>
                <a:latin typeface="Liter"/>
                <a:ea typeface="Liter"/>
              </a:rPr>
              <a:t>Analyst console for paste → approve → generate workflows.</a:t>
            </a:r>
            <a:endParaRPr lang="en-US" sz="1600" noProof="1"/>
          </a:p>
        </p:txBody>
      </p:sp>
      <p:sp>
        <p:nvSpPr>
          <p:cNvPr id="7" name="arrow-ui-api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eyJ2aWV3Qm94IjpbNCwzNF0sInBvaW50cyI6IjIsMCAyLDM0In0</pptd:line>
              </p:ext>
            </p:extLst>
          </p:nvPr>
        </p:nvSpPr>
        <p:spPr>
          <a:xfrm>
            <a:off x="6096000" y="2768600"/>
            <a:ext cx="50800" cy="431800"/>
          </a:xfrm>
          <a:custGeom>
            <a:avLst/>
            <a:gdLst/>
            <a:ahLst/>
            <a:cxnLst/>
            <a:rect l="l" t="t" r="r" b="b"/>
            <a:pathLst>
              <a:path w="4" h="34">
                <a:moveTo>
                  <a:pt x="2" y="0"/>
                </a:moveTo>
                <a:lnTo>
                  <a:pt x="2" y="34"/>
                </a:lnTo>
              </a:path>
            </a:pathLst>
          </a:custGeom>
          <a:noFill/>
          <a:ln w="25400" cap="rnd">
            <a:solidFill>
              <a:srgbClr val="F2A93B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" name="api-region"/>
          <p:cNvSpPr/>
          <p:nvPr/>
        </p:nvSpPr>
        <p:spPr>
          <a:xfrm>
            <a:off x="889000" y="3251200"/>
            <a:ext cx="10414000" cy="1066800"/>
          </a:xfrm>
          <a:prstGeom prst="rect">
            <a:avLst/>
          </a:prstGeom>
          <a:solidFill>
            <a:srgbClr val="0E1620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pi-label"/>
          <p:cNvSpPr txBox="1"/>
          <p:nvPr/>
        </p:nvSpPr>
        <p:spPr>
          <a:xfrm>
            <a:off x="1143000" y="3479800"/>
            <a:ext cx="1524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CONTROL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plane</a:t>
            </a:r>
            <a:endParaRPr lang="en-US" sz="1250" noProof="1"/>
          </a:p>
        </p:txBody>
      </p:sp>
      <p:sp>
        <p:nvSpPr>
          <p:cNvPr id="10" name="api-text"/>
          <p:cNvSpPr txBox="1"/>
          <p:nvPr/>
        </p:nvSpPr>
        <p:spPr>
          <a:xfrm>
            <a:off x="2870200" y="3454400"/>
            <a:ext cx="4521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600" b="1" noProof="1">
                <a:solidFill>
                  <a:srgbClr val="EAF1F7"/>
                </a:solidFill>
                <a:latin typeface="Liter"/>
                <a:ea typeface="Liter"/>
              </a:rPr>
              <a:t>FastAPI · PostgreSQL 16</a:t>
            </a:r>
            <a:endParaRPr lang="en-US" sz="1600" noProof="1"/>
          </a:p>
          <a:p>
            <a:pPr>
              <a:lnSpc>
                <a:spcPct val="142000"/>
              </a:lnSpc>
            </a:pPr>
            <a:r>
              <a:rPr lang="en-US" sz="1600" noProof="1">
                <a:solidFill>
                  <a:srgbClr val="9DAAB8"/>
                </a:solidFill>
                <a:latin typeface="Liter"/>
                <a:ea typeface="Liter"/>
              </a:rPr>
              <a:t>Mappings, parser versions, approvals, audit state.</a:t>
            </a:r>
            <a:endParaRPr lang="en-US" sz="1600" noProof="1"/>
          </a:p>
        </p:txBody>
      </p:sp>
      <p:sp>
        <p:nvSpPr>
          <p:cNvPr id="11" name="ai-text"/>
          <p:cNvSpPr txBox="1"/>
          <p:nvPr/>
        </p:nvSpPr>
        <p:spPr>
          <a:xfrm>
            <a:off x="7772400" y="3454400"/>
            <a:ext cx="3098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500" b="1" noProof="1">
                <a:solidFill>
                  <a:srgbClr val="EAF1F7"/>
                </a:solidFill>
                <a:latin typeface="Liter"/>
                <a:ea typeface="Liter"/>
              </a:rPr>
              <a:t>OpenRouter API</a:t>
            </a:r>
            <a:endParaRPr lang="en-US" sz="1500" noProof="1"/>
          </a:p>
          <a:p>
            <a:pPr>
              <a:lnSpc>
                <a:spcPct val="142000"/>
              </a:lnSpc>
            </a:pPr>
            <a:r>
              <a:rPr lang="en-US" sz="1500" noProof="1">
                <a:solidFill>
                  <a:srgbClr val="9DAAB8"/>
                </a:solidFill>
                <a:latin typeface="Liter"/>
                <a:ea typeface="Liter"/>
              </a:rPr>
              <a:t>LLM onboarding calls; disabled offline.</a:t>
            </a:r>
            <a:endParaRPr lang="en-US" sz="1500" noProof="1"/>
          </a:p>
        </p:txBody>
      </p:sp>
      <p:sp>
        <p:nvSpPr>
          <p:cNvPr id="12" name="arrow-api-data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eyJ2aWV3Qm94IjpbNCwzNF0sInBvaW50cyI6IjIsMCAyLDM0In0</pptd:line>
              </p:ext>
            </p:extLst>
          </p:nvPr>
        </p:nvSpPr>
        <p:spPr>
          <a:xfrm>
            <a:off x="6096000" y="4368800"/>
            <a:ext cx="50800" cy="431800"/>
          </a:xfrm>
          <a:custGeom>
            <a:avLst/>
            <a:gdLst/>
            <a:ahLst/>
            <a:cxnLst/>
            <a:rect l="l" t="t" r="r" b="b"/>
            <a:pathLst>
              <a:path w="4" h="34">
                <a:moveTo>
                  <a:pt x="2" y="0"/>
                </a:moveTo>
                <a:lnTo>
                  <a:pt x="2" y="34"/>
                </a:lnTo>
              </a:path>
            </a:pathLst>
          </a:custGeom>
          <a:noFill/>
          <a:ln w="254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data-region"/>
          <p:cNvSpPr/>
          <p:nvPr/>
        </p:nvSpPr>
        <p:spPr>
          <a:xfrm>
            <a:off x="889000" y="4851400"/>
            <a:ext cx="10414000" cy="11684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data-label"/>
          <p:cNvSpPr txBox="1"/>
          <p:nvPr/>
        </p:nvSpPr>
        <p:spPr>
          <a:xfrm>
            <a:off x="1143000" y="5105400"/>
            <a:ext cx="152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DATA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plane</a:t>
            </a:r>
            <a:endParaRPr lang="en-US" sz="1250" noProof="1"/>
          </a:p>
        </p:txBody>
      </p:sp>
      <p:sp>
        <p:nvSpPr>
          <p:cNvPr id="15" name="kafka-node"/>
          <p:cNvSpPr/>
          <p:nvPr/>
        </p:nvSpPr>
        <p:spPr>
          <a:xfrm>
            <a:off x="2870200" y="5130800"/>
            <a:ext cx="2794000" cy="609600"/>
          </a:xfrm>
          <a:prstGeom prst="rect">
            <a:avLst/>
          </a:prstGeom>
          <a:solidFill>
            <a:srgbClr val="13202B"/>
          </a:solidFill>
          <a:ln w="12700">
            <a:solidFill>
              <a:srgbClr val="5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kafka-text"/>
          <p:cNvSpPr txBox="1"/>
          <p:nvPr/>
        </p:nvSpPr>
        <p:spPr>
          <a:xfrm>
            <a:off x="3022600" y="52578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Apache Kafka · event streaming</a:t>
            </a:r>
            <a:endParaRPr lang="en-US" sz="1250" noProof="1"/>
          </a:p>
        </p:txBody>
      </p:sp>
      <p:sp>
        <p:nvSpPr>
          <p:cNvPr id="17" name="parser-node"/>
          <p:cNvSpPr/>
          <p:nvPr/>
        </p:nvSpPr>
        <p:spPr>
          <a:xfrm>
            <a:off x="6172200" y="5130800"/>
            <a:ext cx="2032000" cy="609600"/>
          </a:xfrm>
          <a:prstGeom prst="rect">
            <a:avLst/>
          </a:prstGeom>
          <a:solidFill>
            <a:srgbClr val="18242F"/>
          </a:solidFill>
          <a:ln w="254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parser-text"/>
          <p:cNvSpPr txBox="1"/>
          <p:nvPr/>
        </p:nvSpPr>
        <p:spPr>
          <a:xfrm>
            <a:off x="6324600" y="5257800"/>
            <a:ext cx="1727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Compiled parsers</a:t>
            </a:r>
            <a:endParaRPr lang="en-US" sz="1250" noProof="1"/>
          </a:p>
        </p:txBody>
      </p:sp>
      <p:sp>
        <p:nvSpPr>
          <p:cNvPr id="19" name="search-node"/>
          <p:cNvSpPr/>
          <p:nvPr/>
        </p:nvSpPr>
        <p:spPr>
          <a:xfrm>
            <a:off x="8712200" y="5130800"/>
            <a:ext cx="2159000" cy="609600"/>
          </a:xfrm>
          <a:prstGeom prst="rect">
            <a:avLst/>
          </a:prstGeom>
          <a:solidFill>
            <a:srgbClr val="13202B"/>
          </a:solidFill>
          <a:ln w="12700">
            <a:solidFill>
              <a:srgbClr val="5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earch-text"/>
          <p:cNvSpPr txBox="1"/>
          <p:nvPr/>
        </p:nvSpPr>
        <p:spPr>
          <a:xfrm>
            <a:off x="8864600" y="5257800"/>
            <a:ext cx="185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OpenSearch · detection</a:t>
            </a:r>
            <a:endParaRPr lang="en-US" sz="1250" noProof="1"/>
          </a:p>
        </p:txBody>
      </p:sp>
      <p:sp>
        <p:nvSpPr>
          <p:cNvPr id="21" name="data-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eyJ2aWV3Qm94IjpbMzIsNF0sInBvaW50cyI6IjAsMiAzMiwyIn0</pptd:line>
              </p:ext>
            </p:extLst>
          </p:nvPr>
        </p:nvSpPr>
        <p:spPr>
          <a:xfrm>
            <a:off x="5715000" y="5410200"/>
            <a:ext cx="406400" cy="50800"/>
          </a:xfrm>
          <a:custGeom>
            <a:avLst/>
            <a:gdLst/>
            <a:ahLst/>
            <a:cxnLst/>
            <a:rect l="l" t="t" r="r" b="b"/>
            <a:pathLst>
              <a:path w="32" h="4">
                <a:moveTo>
                  <a:pt x="0" y="2"/>
                </a:moveTo>
                <a:lnTo>
                  <a:pt x="32" y="2"/>
                </a:lnTo>
              </a:path>
            </a:pathLst>
          </a:custGeom>
          <a:noFill/>
          <a:ln w="254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data-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eyJ2aWV3Qm94IjpbMzIsNF0sInBvaW50cyI6IjAsMiAzMiwyIn0</pptd:line>
              </p:ext>
            </p:extLst>
          </p:nvPr>
        </p:nvSpPr>
        <p:spPr>
          <a:xfrm>
            <a:off x="8255000" y="5410200"/>
            <a:ext cx="406400" cy="50800"/>
          </a:xfrm>
          <a:custGeom>
            <a:avLst/>
            <a:gdLst/>
            <a:ahLst/>
            <a:cxnLst/>
            <a:rect l="l" t="t" r="r" b="b"/>
            <a:pathLst>
              <a:path w="32" h="4">
                <a:moveTo>
                  <a:pt x="0" y="2"/>
                </a:moveTo>
                <a:lnTo>
                  <a:pt x="32" y="2"/>
                </a:lnTo>
              </a:path>
            </a:pathLst>
          </a:custGeom>
          <a:noFill/>
          <a:ln w="254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deploy-note"/>
          <p:cNvSpPr txBox="1"/>
          <p:nvPr/>
        </p:nvSpPr>
        <p:spPr>
          <a:xfrm>
            <a:off x="889000" y="62484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Deployment: Docker + Nginx, arranged as microservices with explicit control-plane / data-plane boundaries.</a:t>
            </a:r>
            <a:endParaRPr lang="en-US" sz="1050" noProof="1"/>
          </a:p>
        </p:txBody>
      </p:sp>
      <p:sp>
        <p:nvSpPr>
          <p:cNvPr id="24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08</a:t>
            </a:r>
            <a:endParaRPr lang="en-US" sz="10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08 · SECURITY-FIRST DEPLOYMENT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The pipeline remains useful when the network is isolated</a:t>
            </a:r>
            <a:endParaRPr lang="en-US" sz="2800" noProof="1"/>
          </a:p>
        </p:txBody>
      </p:sp>
      <p:sp>
        <p:nvSpPr>
          <p:cNvPr id="4" name="body"/>
          <p:cNvSpPr txBox="1"/>
          <p:nvPr/>
        </p:nvSpPr>
        <p:spPr>
          <a:xfrm>
            <a:off x="812800" y="1676400"/>
            <a:ext cx="4445000" cy="302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Defense and finance environments often disallow outbound internet.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ULPF can run entirely inside the enterprise boundary.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If the LLM is unreachable, onboarding falls back to deterministic mapping rules.</a:t>
            </a:r>
            <a:endParaRPr lang="en-US" sz="1550" noProof="1"/>
          </a:p>
          <a:p>
            <a:pPr>
              <a:lnSpc>
                <a:spcPct val="142000"/>
              </a:lnSpc>
              <a:spcBef>
                <a:spcPts val="10"/>
              </a:spcBef>
              <a:buChar char="•"/>
            </a:pPr>
            <a:r>
              <a:rPr lang="en-US" sz="1550" noProof="1">
                <a:solidFill>
                  <a:srgbClr val="EAF1F7"/>
                </a:solidFill>
                <a:latin typeface="Liter"/>
                <a:ea typeface="Liter"/>
              </a:rPr>
              <a:t>Raw logs and generated parsers stay under local control.</a:t>
            </a:r>
            <a:endParaRPr lang="en-US" sz="1550" noProof="1"/>
          </a:p>
        </p:txBody>
      </p:sp>
      <p:sp>
        <p:nvSpPr>
          <p:cNvPr id="5" name="boundary"/>
          <p:cNvSpPr/>
          <p:nvPr/>
        </p:nvSpPr>
        <p:spPr>
          <a:xfrm>
            <a:off x="5867400" y="1676400"/>
            <a:ext cx="5461000" cy="3708400"/>
          </a:xfrm>
          <a:prstGeom prst="rect">
            <a:avLst/>
          </a:prstGeom>
          <a:solidFill>
            <a:srgbClr val="0F1720"/>
          </a:solidFill>
          <a:ln w="25400">
            <a:solidFill>
              <a:srgbClr val="7EA2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boundary-label"/>
          <p:cNvSpPr txBox="1"/>
          <p:nvPr/>
        </p:nvSpPr>
        <p:spPr>
          <a:xfrm>
            <a:off x="6172200" y="1879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7EA2D8"/>
                </a:solidFill>
                <a:latin typeface="Liter"/>
                <a:ea typeface="Liter"/>
              </a:rPr>
              <a:t>ENTERPRISE NETWORK BOUNDARY</a:t>
            </a:r>
            <a:endParaRPr lang="en-US" sz="1250" noProof="1"/>
          </a:p>
        </p:txBody>
      </p:sp>
      <p:sp>
        <p:nvSpPr>
          <p:cNvPr id="7" name="local1"/>
          <p:cNvSpPr/>
          <p:nvPr/>
        </p:nvSpPr>
        <p:spPr>
          <a:xfrm>
            <a:off x="6350000" y="2489200"/>
            <a:ext cx="1905000" cy="812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local1t"/>
          <p:cNvSpPr txBox="1"/>
          <p:nvPr/>
        </p:nvSpPr>
        <p:spPr>
          <a:xfrm>
            <a:off x="6502400" y="26670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Local ingestion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+ parsing</a:t>
            </a:r>
            <a:endParaRPr lang="en-US" sz="1250" noProof="1"/>
          </a:p>
        </p:txBody>
      </p:sp>
      <p:sp>
        <p:nvSpPr>
          <p:cNvPr id="9" name="local2"/>
          <p:cNvSpPr/>
          <p:nvPr/>
        </p:nvSpPr>
        <p:spPr>
          <a:xfrm>
            <a:off x="8940800" y="2489200"/>
            <a:ext cx="1905000" cy="8128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local2t"/>
          <p:cNvSpPr txBox="1"/>
          <p:nvPr/>
        </p:nvSpPr>
        <p:spPr>
          <a:xfrm>
            <a:off x="9093200" y="26670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OpenSearch</a:t>
            </a:r>
            <a:endParaRPr lang="en-US" sz="1250" noProof="1"/>
          </a:p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+ SOC rules</a:t>
            </a:r>
            <a:endParaRPr lang="en-US" sz="1250" noProof="1"/>
          </a:p>
        </p:txBody>
      </p:sp>
      <p:sp>
        <p:nvSpPr>
          <p:cNvPr id="11" name="local-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eyJ2aWV3Qm94IjpbNDYsNF0sInBvaW50cyI6IjAsMiA0NiwyIn0</pptd:line>
              </p:ext>
            </p:extLst>
          </p:nvPr>
        </p:nvSpPr>
        <p:spPr>
          <a:xfrm>
            <a:off x="8305800" y="2870200"/>
            <a:ext cx="584200" cy="50800"/>
          </a:xfrm>
          <a:custGeom>
            <a:avLst/>
            <a:gdLst/>
            <a:ahLst/>
            <a:cxnLst/>
            <a:rect l="l" t="t" r="r" b="b"/>
            <a:pathLst>
              <a:path w="46" h="4">
                <a:moveTo>
                  <a:pt x="0" y="2"/>
                </a:moveTo>
                <a:lnTo>
                  <a:pt x="46" y="2"/>
                </a:lnTo>
              </a:path>
            </a:pathLst>
          </a:custGeom>
          <a:noFill/>
          <a:ln w="38100" cap="rnd">
            <a:solidFill>
              <a:srgbClr val="52C39A"/>
            </a:solidFill>
            <a:rou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fallback"/>
          <p:cNvSpPr/>
          <p:nvPr/>
        </p:nvSpPr>
        <p:spPr>
          <a:xfrm>
            <a:off x="6350000" y="3835400"/>
            <a:ext cx="4495800" cy="889000"/>
          </a:xfrm>
          <a:prstGeom prst="rect">
            <a:avLst/>
          </a:prstGeom>
          <a:solidFill>
            <a:srgbClr val="18242F"/>
          </a:solidFill>
          <a:ln w="254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fallback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eyJpY29uTmFtZSI6ImZhczpsb2NrIn0</pptd:icon>
              </p:ext>
            </p:extLst>
          </p:nvPr>
        </p:nvSpPr>
        <p:spPr>
          <a:xfrm>
            <a:off x="6604000" y="4064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allback-text"/>
          <p:cNvSpPr txBox="1"/>
          <p:nvPr/>
        </p:nvSpPr>
        <p:spPr>
          <a:xfrm>
            <a:off x="7239000" y="39878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9DAAB8"/>
                </a:solidFill>
                <a:latin typeface="Liter"/>
                <a:ea typeface="Liter"/>
              </a:rPr>
              <a:t>Graceful fallback:</a:t>
            </a: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 deterministic mapping engine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9DAAB8"/>
                </a:solidFill>
                <a:latin typeface="Liter"/>
                <a:ea typeface="Liter"/>
              </a:rPr>
              <a:t>keeps onboarding moving without external AI.</a:t>
            </a:r>
            <a:endParaRPr lang="en-US" sz="1250" noProof="1"/>
          </a:p>
        </p:txBody>
      </p:sp>
      <p:sp>
        <p:nvSpPr>
          <p:cNvPr id="15" name="cloud-node"/>
          <p:cNvSpPr/>
          <p:nvPr/>
        </p:nvSpPr>
        <p:spPr>
          <a:xfrm>
            <a:off x="9271000" y="5638800"/>
            <a:ext cx="1676400" cy="533400"/>
          </a:xfrm>
          <a:prstGeom prst="rect">
            <a:avLst/>
          </a:prstGeom>
          <a:solidFill>
            <a:srgbClr val="111B24"/>
          </a:solidFill>
          <a:ln w="12700">
            <a:solidFill>
              <a:srgbClr val="2A39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cloud-text"/>
          <p:cNvSpPr txBox="1"/>
          <p:nvPr/>
        </p:nvSpPr>
        <p:spPr>
          <a:xfrm>
            <a:off x="9423400" y="5765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External AI endpoint</a:t>
            </a:r>
            <a:endParaRPr lang="en-US" sz="1050" noProof="1"/>
          </a:p>
        </p:txBody>
      </p:sp>
      <p:sp>
        <p:nvSpPr>
          <p:cNvPr id="17" name="cloud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8788400" y="568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E15B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rivacy-note"/>
          <p:cNvSpPr txBox="1"/>
          <p:nvPr/>
        </p:nvSpPr>
        <p:spPr>
          <a:xfrm>
            <a:off x="5867400" y="56896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Data privacy posture:</a:t>
            </a:r>
            <a:endParaRPr lang="en-US" sz="1050" noProof="1"/>
          </a:p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9DAAB8"/>
                </a:solidFill>
                <a:latin typeface="Liter"/>
                <a:ea typeface="Liter"/>
              </a:rPr>
              <a:t>logs never leave the enterprise network.</a:t>
            </a:r>
            <a:endParaRPr lang="en-US" sz="1050" noProof="1"/>
          </a:p>
        </p:txBody>
      </p:sp>
      <p:sp>
        <p:nvSpPr>
          <p:cNvPr id="19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09</a:t>
            </a:r>
            <a:endParaRPr lang="en-US" sz="10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9DAAB8"/>
                </a:solidFill>
                <a:latin typeface="Liter"/>
                <a:ea typeface="Liter"/>
              </a:rPr>
              <a:t>09 · SUMMARY &amp; IMPACT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EAF1F7"/>
                </a:solidFill>
                <a:latin typeface="Liter"/>
                <a:ea typeface="Liter"/>
              </a:rPr>
              <a:t>Faster onboarding, deterministic control</a:t>
            </a:r>
            <a:endParaRPr lang="en-US" sz="2800" noProof="1"/>
          </a:p>
        </p:txBody>
      </p:sp>
      <p:sp>
        <p:nvSpPr>
          <p:cNvPr id="4" name="impact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eyJpY29uTmFtZSI6ImZhczpib2x0In0</pptd:icon>
              </p:ext>
            </p:extLst>
          </p:nvPr>
        </p:nvSpPr>
        <p:spPr>
          <a:xfrm>
            <a:off x="889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impact1"/>
          <p:cNvSpPr txBox="1"/>
          <p:nvPr/>
        </p:nvSpPr>
        <p:spPr>
          <a:xfrm>
            <a:off x="1473200" y="17526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700" b="1" noProof="1">
                <a:solidFill>
                  <a:srgbClr val="EAF1F7"/>
                </a:solidFill>
                <a:latin typeface="Liter"/>
                <a:ea typeface="Liter"/>
              </a:rPr>
              <a:t>Time saved:</a:t>
            </a:r>
            <a:r>
              <a:rPr lang="en-US" sz="1700" noProof="1">
                <a:solidFill>
                  <a:srgbClr val="EAF1F7"/>
                </a:solidFill>
                <a:latin typeface="Liter"/>
                <a:ea typeface="Liter"/>
              </a:rPr>
              <a:t> parser development moves from days of manual authoring to seconds of assisted mapping.</a:t>
            </a:r>
            <a:endParaRPr lang="en-US" sz="1700" noProof="1"/>
          </a:p>
        </p:txBody>
      </p:sp>
      <p:sp>
        <p:nvSpPr>
          <p:cNvPr id="6" name="rule1"/>
          <p:cNvSpPr/>
          <p:nvPr/>
        </p:nvSpPr>
        <p:spPr>
          <a:xfrm>
            <a:off x="1473200" y="2413000"/>
            <a:ext cx="9144000" cy="12700"/>
          </a:xfrm>
          <a:prstGeom prst="rect">
            <a:avLst/>
          </a:prstGeom>
          <a:solidFill>
            <a:srgbClr val="2A39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impact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eyJpY29uTmFtZSI6ImZhczpkaWFncmFtLXByb2plY3QifQ</pptd:icon>
              </p:ext>
            </p:extLst>
          </p:nvPr>
        </p:nvSpPr>
        <p:spPr>
          <a:xfrm>
            <a:off x="889000" y="2717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80"/>
                </a:moveTo>
                <a:cubicBezTo>
                  <a:pt x="0" y="54"/>
                  <a:pt x="22" y="32"/>
                  <a:pt x="48" y="32"/>
                </a:cubicBezTo>
                <a:lnTo>
                  <a:pt x="144" y="32"/>
                </a:lnTo>
                <a:cubicBezTo>
                  <a:pt x="171" y="32"/>
                  <a:pt x="192" y="54"/>
                  <a:pt x="192" y="80"/>
                </a:cubicBezTo>
                <a:lnTo>
                  <a:pt x="192" y="96"/>
                </a:lnTo>
                <a:lnTo>
                  <a:pt x="320" y="96"/>
                </a:lnTo>
                <a:lnTo>
                  <a:pt x="320" y="80"/>
                </a:lnTo>
                <a:cubicBezTo>
                  <a:pt x="320" y="54"/>
                  <a:pt x="342" y="32"/>
                  <a:pt x="368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176"/>
                </a:lnTo>
                <a:cubicBezTo>
                  <a:pt x="512" y="203"/>
                  <a:pt x="491" y="224"/>
                  <a:pt x="464" y="224"/>
                </a:cubicBezTo>
                <a:lnTo>
                  <a:pt x="368" y="224"/>
                </a:lnTo>
                <a:cubicBezTo>
                  <a:pt x="342" y="224"/>
                  <a:pt x="320" y="203"/>
                  <a:pt x="320" y="176"/>
                </a:cubicBezTo>
                <a:lnTo>
                  <a:pt x="320" y="160"/>
                </a:lnTo>
                <a:lnTo>
                  <a:pt x="192" y="160"/>
                </a:lnTo>
                <a:lnTo>
                  <a:pt x="192" y="176"/>
                </a:lnTo>
                <a:cubicBezTo>
                  <a:pt x="192" y="183"/>
                  <a:pt x="190" y="190"/>
                  <a:pt x="187" y="197"/>
                </a:cubicBezTo>
                <a:lnTo>
                  <a:pt x="256" y="288"/>
                </a:lnTo>
                <a:lnTo>
                  <a:pt x="336" y="288"/>
                </a:lnTo>
                <a:cubicBezTo>
                  <a:pt x="363" y="288"/>
                  <a:pt x="384" y="310"/>
                  <a:pt x="384" y="336"/>
                </a:cubicBezTo>
                <a:lnTo>
                  <a:pt x="384" y="432"/>
                </a:lnTo>
                <a:cubicBezTo>
                  <a:pt x="384" y="459"/>
                  <a:pt x="363" y="480"/>
                  <a:pt x="336" y="480"/>
                </a:cubicBezTo>
                <a:lnTo>
                  <a:pt x="240" y="480"/>
                </a:lnTo>
                <a:cubicBezTo>
                  <a:pt x="214" y="480"/>
                  <a:pt x="192" y="459"/>
                  <a:pt x="192" y="432"/>
                </a:cubicBezTo>
                <a:lnTo>
                  <a:pt x="192" y="336"/>
                </a:lnTo>
                <a:cubicBezTo>
                  <a:pt x="192" y="329"/>
                  <a:pt x="194" y="322"/>
                  <a:pt x="197" y="316"/>
                </a:cubicBezTo>
                <a:lnTo>
                  <a:pt x="128" y="224"/>
                </a:lnTo>
                <a:lnTo>
                  <a:pt x="48" y="224"/>
                </a:lnTo>
                <a:cubicBezTo>
                  <a:pt x="22" y="224"/>
                  <a:pt x="0" y="203"/>
                  <a:pt x="0" y="176"/>
                </a:cubicBezTo>
                <a:lnTo>
                  <a:pt x="0" y="80"/>
                </a:lnTo>
                <a:close/>
              </a:path>
            </a:pathLst>
          </a:custGeom>
          <a:solidFill>
            <a:srgbClr val="7EA2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impact2"/>
          <p:cNvSpPr txBox="1"/>
          <p:nvPr/>
        </p:nvSpPr>
        <p:spPr>
          <a:xfrm>
            <a:off x="1473200" y="26670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700" b="1" noProof="1">
                <a:solidFill>
                  <a:srgbClr val="EAF1F7"/>
                </a:solidFill>
                <a:latin typeface="Liter"/>
                <a:ea typeface="Liter"/>
              </a:rPr>
              <a:t>Cost effective:</a:t>
            </a:r>
            <a:r>
              <a:rPr lang="en-US" sz="1700" noProof="1">
                <a:solidFill>
                  <a:srgbClr val="EAF1F7"/>
                </a:solidFill>
                <a:latin typeface="Liter"/>
                <a:ea typeface="Liter"/>
              </a:rPr>
              <a:t> normalization happens without forcing a vendor-specific data model.</a:t>
            </a:r>
            <a:endParaRPr lang="en-US" sz="1700" noProof="1"/>
          </a:p>
        </p:txBody>
      </p:sp>
      <p:sp>
        <p:nvSpPr>
          <p:cNvPr id="9" name="rule2"/>
          <p:cNvSpPr/>
          <p:nvPr/>
        </p:nvSpPr>
        <p:spPr>
          <a:xfrm>
            <a:off x="1473200" y="3327400"/>
            <a:ext cx="9144000" cy="12700"/>
          </a:xfrm>
          <a:prstGeom prst="rect">
            <a:avLst/>
          </a:prstGeom>
          <a:solidFill>
            <a:srgbClr val="2A39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impact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eyJpY29uTmFtZSI6ImZhczptYWduaWZ5aW5nLWdsYXNzIn0</pptd:icon>
              </p:ext>
            </p:extLst>
          </p:nvPr>
        </p:nvSpPr>
        <p:spPr>
          <a:xfrm>
            <a:off x="889000" y="363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52C3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impact3"/>
          <p:cNvSpPr txBox="1"/>
          <p:nvPr/>
        </p:nvSpPr>
        <p:spPr>
          <a:xfrm>
            <a:off x="1473200" y="35814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700" b="1" noProof="1">
                <a:solidFill>
                  <a:srgbClr val="EAF1F7"/>
                </a:solidFill>
                <a:latin typeface="Liter"/>
                <a:ea typeface="Liter"/>
              </a:rPr>
              <a:t>Threat readiness:</a:t>
            </a:r>
            <a:r>
              <a:rPr lang="en-US" sz="1700" noProof="1">
                <a:solidFill>
                  <a:srgbClr val="EAF1F7"/>
                </a:solidFill>
                <a:latin typeface="Liter"/>
                <a:ea typeface="Liter"/>
              </a:rPr>
              <a:t> common fields let detection rules run across firewalls, EDRs, cloud, and web systems.</a:t>
            </a:r>
            <a:endParaRPr lang="en-US" sz="1700" noProof="1"/>
          </a:p>
        </p:txBody>
      </p:sp>
      <p:sp>
        <p:nvSpPr>
          <p:cNvPr id="12" name="rule3"/>
          <p:cNvSpPr/>
          <p:nvPr/>
        </p:nvSpPr>
        <p:spPr>
          <a:xfrm>
            <a:off x="1473200" y="4241800"/>
            <a:ext cx="9144000" cy="12700"/>
          </a:xfrm>
          <a:prstGeom prst="rect">
            <a:avLst/>
          </a:prstGeom>
          <a:solidFill>
            <a:srgbClr val="2A39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impact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eyJpY29uTmFtZSI6ImZhczpyb2NrZXQifQ</pptd:icon>
              </p:ext>
            </p:extLst>
          </p:nvPr>
        </p:nvSpPr>
        <p:spPr>
          <a:xfrm>
            <a:off x="889000" y="454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impact4"/>
          <p:cNvSpPr txBox="1"/>
          <p:nvPr/>
        </p:nvSpPr>
        <p:spPr>
          <a:xfrm>
            <a:off x="1473200" y="44958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700" b="1" noProof="1">
                <a:solidFill>
                  <a:srgbClr val="EAF1F7"/>
                </a:solidFill>
                <a:latin typeface="Liter"/>
                <a:ea typeface="Liter"/>
              </a:rPr>
              <a:t>Future proof:</a:t>
            </a:r>
            <a:r>
              <a:rPr lang="en-US" sz="1700" noProof="1">
                <a:solidFill>
                  <a:srgbClr val="EAF1F7"/>
                </a:solidFill>
                <a:latin typeface="Liter"/>
                <a:ea typeface="Liter"/>
              </a:rPr>
              <a:t> a new log format becomes an onboarding task, not a pipeline redesign.</a:t>
            </a:r>
            <a:endParaRPr lang="en-US" sz="1700" noProof="1"/>
          </a:p>
        </p:txBody>
      </p:sp>
      <p:sp>
        <p:nvSpPr>
          <p:cNvPr id="15" name="closing-rule"/>
          <p:cNvSpPr/>
          <p:nvPr/>
        </p:nvSpPr>
        <p:spPr>
          <a:xfrm>
            <a:off x="812800" y="5562600"/>
            <a:ext cx="1219200" cy="381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losing"/>
          <p:cNvSpPr txBox="1"/>
          <p:nvPr/>
        </p:nvSpPr>
        <p:spPr>
          <a:xfrm>
            <a:off x="812800" y="5791200"/>
            <a:ext cx="876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F2A93B"/>
                </a:solidFill>
                <a:latin typeface="Liter"/>
                <a:ea typeface="Liter"/>
              </a:rPr>
              <a:t>Team ZeroTrace · SIH26155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EAF1F7"/>
                </a:solidFill>
                <a:latin typeface="Liter"/>
                <a:ea typeface="Liter"/>
              </a:rPr>
              <a:t>ULPF turns log chaos into a controlled, searchable security event stream.</a:t>
            </a:r>
            <a:endParaRPr lang="en-US" sz="1250" noProof="1"/>
          </a:p>
        </p:txBody>
      </p:sp>
      <p:sp>
        <p:nvSpPr>
          <p:cNvPr id="17" name="end-mark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10718800" y="5588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ge-no"/>
          <p:cNvSpPr txBox="1"/>
          <p:nvPr/>
        </p:nvSpPr>
        <p:spPr>
          <a:xfrm>
            <a:off x="11252200" y="533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050" noProof="1">
                <a:solidFill>
                  <a:srgbClr val="6B7885"/>
                </a:solidFill>
                <a:latin typeface="Liter"/>
                <a:ea typeface="Liter"/>
              </a:rPr>
              <a:t>10</a:t>
            </a:r>
            <a:endParaRPr lang="en-US" sz="10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Macintosh PowerPoint</Application>
  <PresentationFormat>Widescreen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Liter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ULPF — Universal Log Pre-processing Framework</dc:title>
  <cp:lastModifiedBy>6w21c</cp:lastModifiedBy>
  <cp:revision>2</cp:revision>
  <dcterms:modified xsi:type="dcterms:W3CDTF">2026-08-29T13:50:58Z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